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6" r:id="rId1"/>
  </p:sldMasterIdLst>
  <p:sldIdLst>
    <p:sldId id="273" r:id="rId2"/>
    <p:sldId id="256" r:id="rId3"/>
    <p:sldId id="257" r:id="rId4"/>
    <p:sldId id="258" r:id="rId5"/>
    <p:sldId id="259" r:id="rId6"/>
    <p:sldId id="260" r:id="rId7"/>
    <p:sldId id="261" r:id="rId8"/>
    <p:sldId id="262" r:id="rId9"/>
    <p:sldId id="263" r:id="rId10"/>
    <p:sldId id="264" r:id="rId11"/>
    <p:sldId id="265" r:id="rId12"/>
    <p:sldId id="267" r:id="rId13"/>
    <p:sldId id="266" r:id="rId14"/>
    <p:sldId id="268" r:id="rId15"/>
    <p:sldId id="269" r:id="rId16"/>
    <p:sldId id="270" r:id="rId17"/>
    <p:sldId id="271" r:id="rId18"/>
    <p:sldId id="272"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43" autoAdjust="0"/>
    <p:restoredTop sz="94660"/>
  </p:normalViewPr>
  <p:slideViewPr>
    <p:cSldViewPr snapToGrid="0">
      <p:cViewPr varScale="1">
        <p:scale>
          <a:sx n="86" d="100"/>
          <a:sy n="86" d="100"/>
        </p:scale>
        <p:origin x="326"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FF693B-8277-4D8D-98AE-CAC69CDDC984}" type="datetimeFigureOut">
              <a:rPr lang="en-IN" smtClean="0"/>
              <a:t>27-03-2021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AC8AA5-F412-4049-BBA7-882D4D17E865}"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1790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FF693B-8277-4D8D-98AE-CAC69CDDC984}" type="datetimeFigureOut">
              <a:rPr lang="en-IN" smtClean="0"/>
              <a:t>27-03-2021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AC8AA5-F412-4049-BBA7-882D4D17E865}" type="slidenum">
              <a:rPr lang="en-IN" smtClean="0"/>
              <a:t>‹#›</a:t>
            </a:fld>
            <a:endParaRPr lang="en-IN"/>
          </a:p>
        </p:txBody>
      </p:sp>
    </p:spTree>
    <p:extLst>
      <p:ext uri="{BB962C8B-B14F-4D97-AF65-F5344CB8AC3E}">
        <p14:creationId xmlns:p14="http://schemas.microsoft.com/office/powerpoint/2010/main" val="23186219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FF693B-8277-4D8D-98AE-CAC69CDDC984}" type="datetimeFigureOut">
              <a:rPr lang="en-IN" smtClean="0"/>
              <a:t>27-03-2021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AC8AA5-F412-4049-BBA7-882D4D17E865}"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1474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FF693B-8277-4D8D-98AE-CAC69CDDC984}" type="datetimeFigureOut">
              <a:rPr lang="en-IN" smtClean="0"/>
              <a:t>27-03-2021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AC8AA5-F412-4049-BBA7-882D4D17E865}" type="slidenum">
              <a:rPr lang="en-IN" smtClean="0"/>
              <a:t>‹#›</a:t>
            </a:fld>
            <a:endParaRPr lang="en-IN"/>
          </a:p>
        </p:txBody>
      </p:sp>
    </p:spTree>
    <p:extLst>
      <p:ext uri="{BB962C8B-B14F-4D97-AF65-F5344CB8AC3E}">
        <p14:creationId xmlns:p14="http://schemas.microsoft.com/office/powerpoint/2010/main" val="42944887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FF693B-8277-4D8D-98AE-CAC69CDDC984}" type="datetimeFigureOut">
              <a:rPr lang="en-IN" smtClean="0"/>
              <a:t>27-03-2021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9AC8AA5-F412-4049-BBA7-882D4D17E865}" type="slidenum">
              <a:rPr lang="en-IN" smtClean="0"/>
              <a:t>‹#›</a:t>
            </a:fld>
            <a:endParaRPr lang="en-IN"/>
          </a:p>
        </p:txBody>
      </p:sp>
    </p:spTree>
    <p:extLst>
      <p:ext uri="{BB962C8B-B14F-4D97-AF65-F5344CB8AC3E}">
        <p14:creationId xmlns:p14="http://schemas.microsoft.com/office/powerpoint/2010/main" val="5863738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FF693B-8277-4D8D-98AE-CAC69CDDC984}" type="datetimeFigureOut">
              <a:rPr lang="en-IN" smtClean="0"/>
              <a:t>27-03-2021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9AC8AA5-F412-4049-BBA7-882D4D17E865}" type="slidenum">
              <a:rPr lang="en-IN" smtClean="0"/>
              <a:t>‹#›</a:t>
            </a:fld>
            <a:endParaRPr lang="en-IN"/>
          </a:p>
        </p:txBody>
      </p:sp>
    </p:spTree>
    <p:extLst>
      <p:ext uri="{BB962C8B-B14F-4D97-AF65-F5344CB8AC3E}">
        <p14:creationId xmlns:p14="http://schemas.microsoft.com/office/powerpoint/2010/main" val="1348635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4FF693B-8277-4D8D-98AE-CAC69CDDC984}" type="datetimeFigureOut">
              <a:rPr lang="en-IN" smtClean="0"/>
              <a:t>27-03-2021</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59AC8AA5-F412-4049-BBA7-882D4D17E865}" type="slidenum">
              <a:rPr lang="en-IN" smtClean="0"/>
              <a:t>‹#›</a:t>
            </a:fld>
            <a:endParaRPr lang="en-IN"/>
          </a:p>
        </p:txBody>
      </p:sp>
    </p:spTree>
    <p:extLst>
      <p:ext uri="{BB962C8B-B14F-4D97-AF65-F5344CB8AC3E}">
        <p14:creationId xmlns:p14="http://schemas.microsoft.com/office/powerpoint/2010/main" val="31408795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84FF693B-8277-4D8D-98AE-CAC69CDDC984}" type="datetimeFigureOut">
              <a:rPr lang="en-IN" smtClean="0"/>
              <a:t>27-03-2021</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9AC8AA5-F412-4049-BBA7-882D4D17E865}" type="slidenum">
              <a:rPr lang="en-IN" smtClean="0"/>
              <a:t>‹#›</a:t>
            </a:fld>
            <a:endParaRPr lang="en-IN"/>
          </a:p>
        </p:txBody>
      </p:sp>
    </p:spTree>
    <p:extLst>
      <p:ext uri="{BB962C8B-B14F-4D97-AF65-F5344CB8AC3E}">
        <p14:creationId xmlns:p14="http://schemas.microsoft.com/office/powerpoint/2010/main" val="19964716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4FF693B-8277-4D8D-98AE-CAC69CDDC984}" type="datetimeFigureOut">
              <a:rPr lang="en-IN" smtClean="0"/>
              <a:t>27-03-2021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AC8AA5-F412-4049-BBA7-882D4D17E865}" type="slidenum">
              <a:rPr lang="en-IN" smtClean="0"/>
              <a:t>‹#›</a:t>
            </a:fld>
            <a:endParaRPr lang="en-IN"/>
          </a:p>
        </p:txBody>
      </p:sp>
    </p:spTree>
    <p:extLst>
      <p:ext uri="{BB962C8B-B14F-4D97-AF65-F5344CB8AC3E}">
        <p14:creationId xmlns:p14="http://schemas.microsoft.com/office/powerpoint/2010/main" val="26288276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FF693B-8277-4D8D-98AE-CAC69CDDC984}" type="datetimeFigureOut">
              <a:rPr lang="en-IN" smtClean="0"/>
              <a:t>27-03-2021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AC8AA5-F412-4049-BBA7-882D4D17E865}" type="slidenum">
              <a:rPr lang="en-IN" smtClean="0"/>
              <a:t>‹#›</a:t>
            </a:fld>
            <a:endParaRPr lang="en-IN"/>
          </a:p>
        </p:txBody>
      </p:sp>
    </p:spTree>
    <p:extLst>
      <p:ext uri="{BB962C8B-B14F-4D97-AF65-F5344CB8AC3E}">
        <p14:creationId xmlns:p14="http://schemas.microsoft.com/office/powerpoint/2010/main" val="8863964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FF693B-8277-4D8D-98AE-CAC69CDDC984}" type="datetimeFigureOut">
              <a:rPr lang="en-IN" smtClean="0"/>
              <a:t>27-03-2021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AC8AA5-F412-4049-BBA7-882D4D17E865}" type="slidenum">
              <a:rPr lang="en-IN" smtClean="0"/>
              <a:t>‹#›</a:t>
            </a:fld>
            <a:endParaRPr lang="en-IN"/>
          </a:p>
        </p:txBody>
      </p:sp>
    </p:spTree>
    <p:extLst>
      <p:ext uri="{BB962C8B-B14F-4D97-AF65-F5344CB8AC3E}">
        <p14:creationId xmlns:p14="http://schemas.microsoft.com/office/powerpoint/2010/main" val="1029029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84FF693B-8277-4D8D-98AE-CAC69CDDC984}" type="datetimeFigureOut">
              <a:rPr lang="en-IN" smtClean="0"/>
              <a:t>27-03-2021</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59AC8AA5-F412-4049-BBA7-882D4D17E865}"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9206923"/>
      </p:ext>
    </p:extLst>
  </p:cSld>
  <p:clrMap bg1="lt1" tx1="dk1" bg2="lt2" tx2="dk2" accent1="accent1" accent2="accent2" accent3="accent3" accent4="accent4" accent5="accent5" accent6="accent6" hlink="hlink" folHlink="folHlink"/>
  <p:sldLayoutIdLst>
    <p:sldLayoutId id="2147483857" r:id="rId1"/>
    <p:sldLayoutId id="2147483858" r:id="rId2"/>
    <p:sldLayoutId id="2147483859" r:id="rId3"/>
    <p:sldLayoutId id="2147483860" r:id="rId4"/>
    <p:sldLayoutId id="2147483861" r:id="rId5"/>
    <p:sldLayoutId id="2147483862" r:id="rId6"/>
    <p:sldLayoutId id="2147483863" r:id="rId7"/>
    <p:sldLayoutId id="2147483864" r:id="rId8"/>
    <p:sldLayoutId id="2147483865" r:id="rId9"/>
    <p:sldLayoutId id="2147483866" r:id="rId10"/>
    <p:sldLayoutId id="2147483867"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hyperlink" Target="https://www.acko.com/health-insurance/ayushman-bharat-yojana-scheme/"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hyperlink" Target="https://www.acko.com/health-insurance/aam-aadmi-bima-yojana/" TargetMode="Externa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hyperlink" Target="https://www.acko.com/health-insurance/rashtriya-swasthya-bima-yojana/"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hyperlink" Target="https://www.acko.com/health-insurance/chief-ministers-comprehensive-health-insurance-scheme/" TargetMode="Externa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hyperlink" Target="https://www.acko.com/health-insurance/employees-state-insurance-scheme/" TargetMode="Externa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hyperlink" Target="https://www.acko.com/health-insurance/mahatma-jyotiba-phule-jan-arogya-yojana/" TargetMode="Externa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hyperlink" Target="https://www.acko.com/health-insurance/mukhyamantri-amrutum-yojana/" TargetMode="Externa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hyperlink" Target="https://www.acko.com/health-insurance/pradhan-mantri-suraksha-bima-yojana/" TargetMode="Externa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www.acko.com/health-insurance/working-journalist-health-scheme-by-ap-govt/" TargetMode="External"/><Relationship Id="rId2" Type="http://schemas.openxmlformats.org/officeDocument/2006/relationships/hyperlink" Target="https://www.acko.com/health-insurance/aarogya-raksha/" TargetMode="External"/><Relationship Id="rId1" Type="http://schemas.openxmlformats.org/officeDocument/2006/relationships/slideLayout" Target="../slideLayouts/slideLayout1.xml"/><Relationship Id="rId4" Type="http://schemas.openxmlformats.org/officeDocument/2006/relationships/hyperlink" Target="https://www.acko.com/health-insurance/employee-health-scheme-government-andhra-pradesh/"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hyperlink" Target="https://www.acko.com/health-insurance/rashtriya-swasthya-bima-yojana/" TargetMode="Externa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www.acko.com/health-insurance/group-health-insurance/" TargetMode="External"/><Relationship Id="rId2" Type="http://schemas.openxmlformats.org/officeDocument/2006/relationships/hyperlink" Target="https://www.acko.com/health-insurance/universal-health-insurance-scheme/" TargetMode="Externa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hyperlink" Target="https://www.acko.com/health-insurance/west-bengal-health-scheme/"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52B2C-B32A-45FC-8534-CB0283FFD2F6}"/>
              </a:ext>
            </a:extLst>
          </p:cNvPr>
          <p:cNvSpPr>
            <a:spLocks noGrp="1"/>
          </p:cNvSpPr>
          <p:nvPr>
            <p:ph type="title"/>
          </p:nvPr>
        </p:nvSpPr>
        <p:spPr>
          <a:xfrm>
            <a:off x="838200" y="365126"/>
            <a:ext cx="10515600" cy="4393306"/>
          </a:xfrm>
        </p:spPr>
        <p:txBody>
          <a:bodyPr>
            <a:normAutofit/>
          </a:bodyPr>
          <a:lstStyle/>
          <a:p>
            <a:r>
              <a:rPr lang="en-US" b="0" i="0" dirty="0">
                <a:solidFill>
                  <a:srgbClr val="111111"/>
                </a:solidFill>
                <a:effectLst/>
                <a:latin typeface="Inter"/>
              </a:rPr>
              <a:t>List of 16 Government Health Insurance Schemes in India:</a:t>
            </a:r>
            <a:br>
              <a:rPr lang="en-US" b="0" i="0" dirty="0">
                <a:solidFill>
                  <a:srgbClr val="111111"/>
                </a:solidFill>
                <a:effectLst/>
                <a:latin typeface="Inter"/>
              </a:rPr>
            </a:br>
            <a:endParaRPr lang="en-IN" dirty="0"/>
          </a:p>
        </p:txBody>
      </p:sp>
    </p:spTree>
    <p:extLst>
      <p:ext uri="{BB962C8B-B14F-4D97-AF65-F5344CB8AC3E}">
        <p14:creationId xmlns:p14="http://schemas.microsoft.com/office/powerpoint/2010/main" val="35898375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EEE87-8237-42EF-ACAB-0002318E9430}"/>
              </a:ext>
            </a:extLst>
          </p:cNvPr>
          <p:cNvSpPr>
            <a:spLocks noGrp="1"/>
          </p:cNvSpPr>
          <p:nvPr>
            <p:ph type="ctrTitle"/>
          </p:nvPr>
        </p:nvSpPr>
        <p:spPr>
          <a:xfrm>
            <a:off x="419358" y="152588"/>
            <a:ext cx="11450257" cy="1313208"/>
          </a:xfrm>
        </p:spPr>
        <p:txBody>
          <a:bodyPr anchor="ctr">
            <a:normAutofit/>
          </a:bodyPr>
          <a:lstStyle/>
          <a:p>
            <a:pPr algn="l"/>
            <a:r>
              <a:rPr lang="en-IN" sz="3600" b="0" i="0" dirty="0">
                <a:solidFill>
                  <a:srgbClr val="111111"/>
                </a:solidFill>
                <a:effectLst/>
                <a:latin typeface="Inter"/>
              </a:rPr>
              <a:t>Ayushman Bharat</a:t>
            </a:r>
            <a:br>
              <a:rPr lang="en-IN" sz="1100" b="0" i="0" dirty="0">
                <a:solidFill>
                  <a:srgbClr val="111111"/>
                </a:solidFill>
                <a:effectLst/>
                <a:latin typeface="Inter"/>
              </a:rPr>
            </a:br>
            <a:endParaRPr lang="en-IN" sz="4000" dirty="0">
              <a:solidFill>
                <a:schemeClr val="tx2"/>
              </a:solidFill>
            </a:endParaRPr>
          </a:p>
        </p:txBody>
      </p:sp>
      <p:sp>
        <p:nvSpPr>
          <p:cNvPr id="3" name="Subtitle 2">
            <a:extLst>
              <a:ext uri="{FF2B5EF4-FFF2-40B4-BE49-F238E27FC236}">
                <a16:creationId xmlns:a16="http://schemas.microsoft.com/office/drawing/2014/main" id="{F8059523-56AF-4570-A7BB-57A6EB84D03C}"/>
              </a:ext>
            </a:extLst>
          </p:cNvPr>
          <p:cNvSpPr>
            <a:spLocks noGrp="1"/>
          </p:cNvSpPr>
          <p:nvPr>
            <p:ph type="subTitle" idx="1"/>
          </p:nvPr>
        </p:nvSpPr>
        <p:spPr>
          <a:xfrm>
            <a:off x="419358" y="1828800"/>
            <a:ext cx="11450257" cy="4132384"/>
          </a:xfrm>
        </p:spPr>
        <p:txBody>
          <a:bodyPr anchor="ctr">
            <a:normAutofit fontScale="92500" lnSpcReduction="10000"/>
          </a:bodyPr>
          <a:lstStyle/>
          <a:p>
            <a:pPr algn="l"/>
            <a:r>
              <a:rPr lang="en-US" b="0" i="0" dirty="0">
                <a:solidFill>
                  <a:srgbClr val="414A53"/>
                </a:solidFill>
                <a:effectLst/>
                <a:latin typeface="Inter"/>
              </a:rPr>
              <a:t>This scheme came into existence because of recommendations made by the National Health Policy. </a:t>
            </a:r>
            <a:r>
              <a:rPr lang="en-US" b="0" i="0" u="none" strike="noStrike" dirty="0">
                <a:solidFill>
                  <a:srgbClr val="6327B7"/>
                </a:solidFill>
                <a:effectLst/>
                <a:latin typeface="Inter"/>
                <a:hlinkClick r:id="rId2"/>
              </a:rPr>
              <a:t>Ayushman Bharat Yojana</a:t>
            </a:r>
            <a:r>
              <a:rPr lang="en-US" b="0" i="0" dirty="0">
                <a:solidFill>
                  <a:srgbClr val="414A53"/>
                </a:solidFill>
                <a:effectLst/>
                <a:latin typeface="Inter"/>
              </a:rPr>
              <a:t> is designed keeping in mind Universal Health Coverage (UHC). Health services in India are largely segmented and Ayushman Bharat aims to make them comprehensive. It is about looking at the health sector as a whole and ensure continuous care for the people of India.</a:t>
            </a:r>
          </a:p>
          <a:p>
            <a:pPr algn="l"/>
            <a:r>
              <a:rPr lang="en-US" b="0" i="0" dirty="0">
                <a:solidFill>
                  <a:srgbClr val="414A53"/>
                </a:solidFill>
                <a:effectLst/>
                <a:latin typeface="Inter"/>
              </a:rPr>
              <a:t>There are two components related to Ayushman Bharat: Health and Wellness </a:t>
            </a:r>
            <a:r>
              <a:rPr lang="en-US" b="0" i="0" dirty="0" err="1">
                <a:solidFill>
                  <a:srgbClr val="414A53"/>
                </a:solidFill>
                <a:effectLst/>
                <a:latin typeface="Inter"/>
              </a:rPr>
              <a:t>Centres</a:t>
            </a:r>
            <a:r>
              <a:rPr lang="en-US" b="0" i="0" dirty="0">
                <a:solidFill>
                  <a:srgbClr val="414A53"/>
                </a:solidFill>
                <a:effectLst/>
                <a:latin typeface="Inter"/>
              </a:rPr>
              <a:t> (HWC) and Pradhan Mantri Jan Arogya Yojana (PM-JAY). 150000 HWCs have been created in order to ensure better healthcare for the people. These HWCs are transformed versions of earlier initiatives like Sub </a:t>
            </a:r>
            <a:r>
              <a:rPr lang="en-US" b="0" i="0" dirty="0" err="1">
                <a:solidFill>
                  <a:srgbClr val="414A53"/>
                </a:solidFill>
                <a:effectLst/>
                <a:latin typeface="Inter"/>
              </a:rPr>
              <a:t>Centres</a:t>
            </a:r>
            <a:r>
              <a:rPr lang="en-US" b="0" i="0" dirty="0">
                <a:solidFill>
                  <a:srgbClr val="414A53"/>
                </a:solidFill>
                <a:effectLst/>
                <a:latin typeface="Inter"/>
              </a:rPr>
              <a:t> and Primary Health </a:t>
            </a:r>
            <a:r>
              <a:rPr lang="en-US" b="0" i="0" dirty="0" err="1">
                <a:solidFill>
                  <a:srgbClr val="414A53"/>
                </a:solidFill>
                <a:effectLst/>
                <a:latin typeface="Inter"/>
              </a:rPr>
              <a:t>Centres</a:t>
            </a:r>
            <a:r>
              <a:rPr lang="en-US" b="0" i="0" dirty="0">
                <a:solidFill>
                  <a:srgbClr val="414A53"/>
                </a:solidFill>
                <a:effectLst/>
                <a:latin typeface="Inter"/>
              </a:rPr>
              <a:t>. The PM-JAY is a health insurance scheme for the poor. It offers a health cover of Rs. 5 lakhs per family on an annual basis, and the payable premium is Rs. 30.</a:t>
            </a:r>
          </a:p>
          <a:p>
            <a:pPr algn="l"/>
            <a:endParaRPr lang="en-IN" dirty="0">
              <a:solidFill>
                <a:schemeClr val="tx2"/>
              </a:solidFill>
            </a:endParaRPr>
          </a:p>
        </p:txBody>
      </p:sp>
    </p:spTree>
    <p:extLst>
      <p:ext uri="{BB962C8B-B14F-4D97-AF65-F5344CB8AC3E}">
        <p14:creationId xmlns:p14="http://schemas.microsoft.com/office/powerpoint/2010/main" val="2175992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E9693-C666-4EAD-B542-2655BAE2AC39}"/>
              </a:ext>
            </a:extLst>
          </p:cNvPr>
          <p:cNvSpPr>
            <a:spLocks noGrp="1"/>
          </p:cNvSpPr>
          <p:nvPr>
            <p:ph type="title"/>
          </p:nvPr>
        </p:nvSpPr>
        <p:spPr>
          <a:xfrm>
            <a:off x="310661" y="123092"/>
            <a:ext cx="11570677" cy="2022231"/>
          </a:xfrm>
        </p:spPr>
        <p:txBody>
          <a:bodyPr>
            <a:normAutofit/>
          </a:bodyPr>
          <a:lstStyle/>
          <a:p>
            <a:r>
              <a:rPr lang="en-IN" sz="4000" b="0" i="0" dirty="0" err="1">
                <a:solidFill>
                  <a:srgbClr val="111111"/>
                </a:solidFill>
                <a:effectLst/>
                <a:latin typeface="Inter"/>
              </a:rPr>
              <a:t>Awaz</a:t>
            </a:r>
            <a:r>
              <a:rPr lang="en-IN" sz="4000" b="0" i="0" dirty="0">
                <a:solidFill>
                  <a:srgbClr val="111111"/>
                </a:solidFill>
                <a:effectLst/>
                <a:latin typeface="Inter"/>
              </a:rPr>
              <a:t> Health Insurance Scheme</a:t>
            </a:r>
            <a:br>
              <a:rPr lang="en-IN" b="0" i="0" dirty="0">
                <a:solidFill>
                  <a:srgbClr val="111111"/>
                </a:solidFill>
                <a:effectLst/>
                <a:latin typeface="Inter"/>
              </a:rPr>
            </a:br>
            <a:endParaRPr lang="en-IN" dirty="0"/>
          </a:p>
        </p:txBody>
      </p:sp>
      <p:sp>
        <p:nvSpPr>
          <p:cNvPr id="3" name="Text Placeholder 2">
            <a:extLst>
              <a:ext uri="{FF2B5EF4-FFF2-40B4-BE49-F238E27FC236}">
                <a16:creationId xmlns:a16="http://schemas.microsoft.com/office/drawing/2014/main" id="{D71C4564-9C9A-4732-8AB6-4E89559BB638}"/>
              </a:ext>
            </a:extLst>
          </p:cNvPr>
          <p:cNvSpPr>
            <a:spLocks noGrp="1"/>
          </p:cNvSpPr>
          <p:nvPr>
            <p:ph type="body" idx="1"/>
          </p:nvPr>
        </p:nvSpPr>
        <p:spPr>
          <a:xfrm>
            <a:off x="404445" y="2145323"/>
            <a:ext cx="11570677" cy="4114800"/>
          </a:xfrm>
        </p:spPr>
        <p:txBody>
          <a:bodyPr>
            <a:normAutofit lnSpcReduction="10000"/>
          </a:bodyPr>
          <a:lstStyle/>
          <a:p>
            <a:pPr algn="l"/>
            <a:r>
              <a:rPr lang="en-US" b="0" i="0" dirty="0">
                <a:solidFill>
                  <a:srgbClr val="414A53"/>
                </a:solidFill>
                <a:effectLst/>
                <a:latin typeface="Inter"/>
              </a:rPr>
              <a:t>This is a health insurance cover for migrant workers and is initiated by the Government of Kerala. It also offers insurance for death by accident for </a:t>
            </a:r>
            <a:r>
              <a:rPr lang="en-US" b="0" i="0" dirty="0" err="1">
                <a:solidFill>
                  <a:srgbClr val="414A53"/>
                </a:solidFill>
                <a:effectLst/>
                <a:latin typeface="Inter"/>
              </a:rPr>
              <a:t>labourers</a:t>
            </a:r>
            <a:r>
              <a:rPr lang="en-US" b="0" i="0" dirty="0">
                <a:solidFill>
                  <a:srgbClr val="414A53"/>
                </a:solidFill>
                <a:effectLst/>
                <a:latin typeface="Inter"/>
              </a:rPr>
              <a:t>. The scheme was launched in the year 2017 and targeted 5 lakh inter-state migrant </a:t>
            </a:r>
            <a:r>
              <a:rPr lang="en-US" b="0" i="0" dirty="0" err="1">
                <a:solidFill>
                  <a:srgbClr val="414A53"/>
                </a:solidFill>
                <a:effectLst/>
                <a:latin typeface="Inter"/>
              </a:rPr>
              <a:t>labourers</a:t>
            </a:r>
            <a:r>
              <a:rPr lang="en-US" b="0" i="0" dirty="0">
                <a:solidFill>
                  <a:srgbClr val="414A53"/>
                </a:solidFill>
                <a:effectLst/>
                <a:latin typeface="Inter"/>
              </a:rPr>
              <a:t> working in Kerala. The health insurance coverage offered under </a:t>
            </a:r>
            <a:r>
              <a:rPr lang="en-US" b="0" i="0" dirty="0" err="1">
                <a:solidFill>
                  <a:srgbClr val="414A53"/>
                </a:solidFill>
                <a:effectLst/>
                <a:latin typeface="Inter"/>
              </a:rPr>
              <a:t>Awaz</a:t>
            </a:r>
            <a:r>
              <a:rPr lang="en-US" b="0" i="0" dirty="0">
                <a:solidFill>
                  <a:srgbClr val="414A53"/>
                </a:solidFill>
                <a:effectLst/>
                <a:latin typeface="Inter"/>
              </a:rPr>
              <a:t> Health Insurance is Rs.15000, while the cover for death is Rs.2 lakh.</a:t>
            </a:r>
          </a:p>
          <a:p>
            <a:pPr algn="l"/>
            <a:r>
              <a:rPr lang="en-US" b="0" i="0" dirty="0">
                <a:solidFill>
                  <a:srgbClr val="414A53"/>
                </a:solidFill>
                <a:effectLst/>
                <a:latin typeface="Inter"/>
              </a:rPr>
              <a:t>This policy can be obtained by </a:t>
            </a:r>
            <a:r>
              <a:rPr lang="en-US" b="0" i="0" dirty="0" err="1">
                <a:solidFill>
                  <a:srgbClr val="414A53"/>
                </a:solidFill>
                <a:effectLst/>
                <a:latin typeface="Inter"/>
              </a:rPr>
              <a:t>labourers</a:t>
            </a:r>
            <a:r>
              <a:rPr lang="en-US" b="0" i="0" dirty="0">
                <a:solidFill>
                  <a:srgbClr val="414A53"/>
                </a:solidFill>
                <a:effectLst/>
                <a:latin typeface="Inter"/>
              </a:rPr>
              <a:t> falling in the age group of 18 to 60. They shall be provided with an </a:t>
            </a:r>
            <a:r>
              <a:rPr lang="en-US" b="0" i="0" dirty="0" err="1">
                <a:solidFill>
                  <a:srgbClr val="414A53"/>
                </a:solidFill>
                <a:effectLst/>
                <a:latin typeface="Inter"/>
              </a:rPr>
              <a:t>Awaz</a:t>
            </a:r>
            <a:r>
              <a:rPr lang="en-US" b="0" i="0" dirty="0">
                <a:solidFill>
                  <a:srgbClr val="414A53"/>
                </a:solidFill>
                <a:effectLst/>
                <a:latin typeface="Inter"/>
              </a:rPr>
              <a:t> Health Insurance card, post submitting and processing of enrolment details pertaining to biometric information and other work-related documents.</a:t>
            </a:r>
          </a:p>
          <a:p>
            <a:endParaRPr lang="en-IN" dirty="0"/>
          </a:p>
        </p:txBody>
      </p:sp>
    </p:spTree>
    <p:extLst>
      <p:ext uri="{BB962C8B-B14F-4D97-AF65-F5344CB8AC3E}">
        <p14:creationId xmlns:p14="http://schemas.microsoft.com/office/powerpoint/2010/main" val="31022572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81CBF-B245-42B5-BE2B-46287C2ECC10}"/>
              </a:ext>
            </a:extLst>
          </p:cNvPr>
          <p:cNvSpPr>
            <a:spLocks noGrp="1"/>
          </p:cNvSpPr>
          <p:nvPr>
            <p:ph type="ctrTitle"/>
          </p:nvPr>
        </p:nvSpPr>
        <p:spPr>
          <a:xfrm>
            <a:off x="372207" y="0"/>
            <a:ext cx="11447585" cy="2112885"/>
          </a:xfrm>
        </p:spPr>
        <p:txBody>
          <a:bodyPr>
            <a:normAutofit/>
          </a:bodyPr>
          <a:lstStyle/>
          <a:p>
            <a:r>
              <a:rPr lang="en-IN" sz="4000" b="0" i="0" dirty="0" err="1">
                <a:solidFill>
                  <a:srgbClr val="111111"/>
                </a:solidFill>
                <a:effectLst/>
                <a:latin typeface="Inter"/>
              </a:rPr>
              <a:t>Aam</a:t>
            </a:r>
            <a:r>
              <a:rPr lang="en-IN" sz="4000" b="0" i="0" dirty="0">
                <a:solidFill>
                  <a:srgbClr val="111111"/>
                </a:solidFill>
                <a:effectLst/>
                <a:latin typeface="Inter"/>
              </a:rPr>
              <a:t> </a:t>
            </a:r>
            <a:r>
              <a:rPr lang="en-IN" sz="4000" b="0" i="0" dirty="0" err="1">
                <a:solidFill>
                  <a:srgbClr val="111111"/>
                </a:solidFill>
                <a:effectLst/>
                <a:latin typeface="Inter"/>
              </a:rPr>
              <a:t>Aadmi</a:t>
            </a:r>
            <a:r>
              <a:rPr lang="en-IN" sz="4000" b="0" i="0" dirty="0">
                <a:solidFill>
                  <a:srgbClr val="111111"/>
                </a:solidFill>
                <a:effectLst/>
                <a:latin typeface="Inter"/>
              </a:rPr>
              <a:t> </a:t>
            </a:r>
            <a:r>
              <a:rPr lang="en-IN" sz="4000" b="0" i="0" dirty="0" err="1">
                <a:solidFill>
                  <a:srgbClr val="111111"/>
                </a:solidFill>
                <a:effectLst/>
                <a:latin typeface="Inter"/>
              </a:rPr>
              <a:t>Bima</a:t>
            </a:r>
            <a:r>
              <a:rPr lang="en-IN" sz="4000" b="0" i="0" dirty="0">
                <a:solidFill>
                  <a:srgbClr val="111111"/>
                </a:solidFill>
                <a:effectLst/>
                <a:latin typeface="Inter"/>
              </a:rPr>
              <a:t> Yojana</a:t>
            </a:r>
            <a:br>
              <a:rPr lang="en-IN" b="0" i="0" dirty="0">
                <a:solidFill>
                  <a:srgbClr val="111111"/>
                </a:solidFill>
                <a:effectLst/>
                <a:latin typeface="Inter"/>
              </a:rPr>
            </a:br>
            <a:endParaRPr lang="en-IN" dirty="0"/>
          </a:p>
        </p:txBody>
      </p:sp>
      <p:sp>
        <p:nvSpPr>
          <p:cNvPr id="3" name="Subtitle 2">
            <a:extLst>
              <a:ext uri="{FF2B5EF4-FFF2-40B4-BE49-F238E27FC236}">
                <a16:creationId xmlns:a16="http://schemas.microsoft.com/office/drawing/2014/main" id="{5C5122AF-FB4A-46F8-AC0B-92D808062FA8}"/>
              </a:ext>
            </a:extLst>
          </p:cNvPr>
          <p:cNvSpPr>
            <a:spLocks noGrp="1"/>
          </p:cNvSpPr>
          <p:nvPr>
            <p:ph type="subTitle" idx="1"/>
          </p:nvPr>
        </p:nvSpPr>
        <p:spPr>
          <a:xfrm>
            <a:off x="372207" y="2022231"/>
            <a:ext cx="11447585" cy="4276114"/>
          </a:xfrm>
        </p:spPr>
        <p:txBody>
          <a:bodyPr/>
          <a:lstStyle/>
          <a:p>
            <a:pPr algn="l"/>
            <a:r>
              <a:rPr lang="en-US" b="0" i="0" dirty="0">
                <a:solidFill>
                  <a:srgbClr val="414A53"/>
                </a:solidFill>
                <a:effectLst/>
                <a:latin typeface="Inter"/>
              </a:rPr>
              <a:t>The </a:t>
            </a:r>
            <a:r>
              <a:rPr lang="en-US" b="0" i="0" u="none" strike="noStrike" dirty="0" err="1">
                <a:solidFill>
                  <a:srgbClr val="6327B7"/>
                </a:solidFill>
                <a:effectLst/>
                <a:latin typeface="Inter"/>
                <a:hlinkClick r:id="rId2"/>
              </a:rPr>
              <a:t>Aam</a:t>
            </a:r>
            <a:r>
              <a:rPr lang="en-US" b="0" i="0" u="none" strike="noStrike" dirty="0">
                <a:solidFill>
                  <a:srgbClr val="6327B7"/>
                </a:solidFill>
                <a:effectLst/>
                <a:latin typeface="Inter"/>
                <a:hlinkClick r:id="rId2"/>
              </a:rPr>
              <a:t> </a:t>
            </a:r>
            <a:r>
              <a:rPr lang="en-US" b="0" i="0" u="none" strike="noStrike" dirty="0" err="1">
                <a:solidFill>
                  <a:srgbClr val="6327B7"/>
                </a:solidFill>
                <a:effectLst/>
                <a:latin typeface="Inter"/>
                <a:hlinkClick r:id="rId2"/>
              </a:rPr>
              <a:t>Aadmi</a:t>
            </a:r>
            <a:r>
              <a:rPr lang="en-US" b="0" i="0" u="none" strike="noStrike" dirty="0">
                <a:solidFill>
                  <a:srgbClr val="6327B7"/>
                </a:solidFill>
                <a:effectLst/>
                <a:latin typeface="Inter"/>
                <a:hlinkClick r:id="rId2"/>
              </a:rPr>
              <a:t> </a:t>
            </a:r>
            <a:r>
              <a:rPr lang="en-US" b="0" i="0" u="none" strike="noStrike" dirty="0" err="1">
                <a:solidFill>
                  <a:srgbClr val="6327B7"/>
                </a:solidFill>
                <a:effectLst/>
                <a:latin typeface="Inter"/>
                <a:hlinkClick r:id="rId2"/>
              </a:rPr>
              <a:t>Bima</a:t>
            </a:r>
            <a:r>
              <a:rPr lang="en-US" b="0" i="0" u="none" strike="noStrike" dirty="0">
                <a:solidFill>
                  <a:srgbClr val="6327B7"/>
                </a:solidFill>
                <a:effectLst/>
                <a:latin typeface="Inter"/>
                <a:hlinkClick r:id="rId2"/>
              </a:rPr>
              <a:t> Yojana</a:t>
            </a:r>
            <a:r>
              <a:rPr lang="en-US" b="0" i="0" dirty="0">
                <a:solidFill>
                  <a:srgbClr val="414A53"/>
                </a:solidFill>
                <a:effectLst/>
                <a:latin typeface="Inter"/>
              </a:rPr>
              <a:t> (AABY) is meant for people involved in certain vocations such as Carpentry, Fishing, Handloom weaving, etc. There are 48 such defined vocations. Before 2013, there were two policies of similar nature, AABY and </a:t>
            </a:r>
            <a:r>
              <a:rPr lang="en-US" b="0" i="0" dirty="0" err="1">
                <a:solidFill>
                  <a:srgbClr val="414A53"/>
                </a:solidFill>
                <a:effectLst/>
                <a:latin typeface="Inter"/>
              </a:rPr>
              <a:t>Janashree</a:t>
            </a:r>
            <a:r>
              <a:rPr lang="en-US" b="0" i="0" dirty="0">
                <a:solidFill>
                  <a:srgbClr val="414A53"/>
                </a:solidFill>
                <a:effectLst/>
                <a:latin typeface="Inter"/>
              </a:rPr>
              <a:t> </a:t>
            </a:r>
            <a:r>
              <a:rPr lang="en-US" b="0" i="0" dirty="0" err="1">
                <a:solidFill>
                  <a:srgbClr val="414A53"/>
                </a:solidFill>
                <a:effectLst/>
                <a:latin typeface="Inter"/>
              </a:rPr>
              <a:t>Bima</a:t>
            </a:r>
            <a:r>
              <a:rPr lang="en-US" b="0" i="0" dirty="0">
                <a:solidFill>
                  <a:srgbClr val="414A53"/>
                </a:solidFill>
                <a:effectLst/>
                <a:latin typeface="Inter"/>
              </a:rPr>
              <a:t> Yojana (JBY). After 2013, JBY was merged with AABY.</a:t>
            </a:r>
          </a:p>
          <a:p>
            <a:pPr algn="l"/>
            <a:r>
              <a:rPr lang="en-US" b="0" i="0" dirty="0">
                <a:solidFill>
                  <a:srgbClr val="414A53"/>
                </a:solidFill>
                <a:effectLst/>
                <a:latin typeface="Inter"/>
              </a:rPr>
              <a:t>The premium for Rs.30000 insurance policy is Rs. 200 for a year. The eligibility criteria for this policy is that one should be a family head or an earning member of one’s family (around the poverty line) and should be performing one of the 48 mentioned vocations.</a:t>
            </a:r>
          </a:p>
          <a:p>
            <a:endParaRPr lang="en-IN" dirty="0"/>
          </a:p>
        </p:txBody>
      </p:sp>
    </p:spTree>
    <p:extLst>
      <p:ext uri="{BB962C8B-B14F-4D97-AF65-F5344CB8AC3E}">
        <p14:creationId xmlns:p14="http://schemas.microsoft.com/office/powerpoint/2010/main" val="13702071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BDF16-2A54-4564-B912-1AB2DC7614B3}"/>
              </a:ext>
            </a:extLst>
          </p:cNvPr>
          <p:cNvSpPr>
            <a:spLocks noGrp="1"/>
          </p:cNvSpPr>
          <p:nvPr>
            <p:ph type="ctrTitle"/>
          </p:nvPr>
        </p:nvSpPr>
        <p:spPr>
          <a:xfrm>
            <a:off x="474785" y="439615"/>
            <a:ext cx="11306907" cy="931985"/>
          </a:xfrm>
        </p:spPr>
        <p:txBody>
          <a:bodyPr>
            <a:normAutofit fontScale="90000"/>
          </a:bodyPr>
          <a:lstStyle/>
          <a:p>
            <a:r>
              <a:rPr lang="en-IN" sz="4000" b="0" i="0" dirty="0" err="1">
                <a:solidFill>
                  <a:srgbClr val="111111"/>
                </a:solidFill>
                <a:effectLst/>
                <a:latin typeface="Inter"/>
              </a:rPr>
              <a:t>Bhamashah</a:t>
            </a:r>
            <a:r>
              <a:rPr lang="en-IN" sz="4000" b="0" i="0" dirty="0">
                <a:solidFill>
                  <a:srgbClr val="111111"/>
                </a:solidFill>
                <a:effectLst/>
                <a:latin typeface="Inter"/>
              </a:rPr>
              <a:t> </a:t>
            </a:r>
            <a:r>
              <a:rPr lang="en-IN" sz="4000" b="0" i="0" dirty="0" err="1">
                <a:solidFill>
                  <a:srgbClr val="111111"/>
                </a:solidFill>
                <a:effectLst/>
                <a:latin typeface="Inter"/>
              </a:rPr>
              <a:t>Swasthya</a:t>
            </a:r>
            <a:r>
              <a:rPr lang="en-IN" sz="4000" b="0" i="0" dirty="0">
                <a:solidFill>
                  <a:srgbClr val="111111"/>
                </a:solidFill>
                <a:effectLst/>
                <a:latin typeface="Inter"/>
              </a:rPr>
              <a:t> </a:t>
            </a:r>
            <a:r>
              <a:rPr lang="en-IN" sz="4000" b="0" i="0" dirty="0" err="1">
                <a:solidFill>
                  <a:srgbClr val="111111"/>
                </a:solidFill>
                <a:effectLst/>
                <a:latin typeface="Inter"/>
              </a:rPr>
              <a:t>Bima</a:t>
            </a:r>
            <a:r>
              <a:rPr lang="en-IN" sz="4000" b="0" i="0" dirty="0">
                <a:solidFill>
                  <a:srgbClr val="111111"/>
                </a:solidFill>
                <a:effectLst/>
                <a:latin typeface="Inter"/>
              </a:rPr>
              <a:t> Yojana</a:t>
            </a:r>
            <a:br>
              <a:rPr lang="en-IN" sz="1050" b="0" i="0" dirty="0">
                <a:solidFill>
                  <a:srgbClr val="111111"/>
                </a:solidFill>
                <a:effectLst/>
                <a:latin typeface="Inter"/>
              </a:rPr>
            </a:br>
            <a:endParaRPr lang="en-IN" sz="3600" dirty="0"/>
          </a:p>
        </p:txBody>
      </p:sp>
      <p:sp>
        <p:nvSpPr>
          <p:cNvPr id="3" name="Subtitle 2">
            <a:extLst>
              <a:ext uri="{FF2B5EF4-FFF2-40B4-BE49-F238E27FC236}">
                <a16:creationId xmlns:a16="http://schemas.microsoft.com/office/drawing/2014/main" id="{470FC157-9BD0-4052-9906-6EBBA90A085D}"/>
              </a:ext>
            </a:extLst>
          </p:cNvPr>
          <p:cNvSpPr>
            <a:spLocks noGrp="1"/>
          </p:cNvSpPr>
          <p:nvPr>
            <p:ph type="subTitle" idx="1"/>
          </p:nvPr>
        </p:nvSpPr>
        <p:spPr>
          <a:xfrm>
            <a:off x="474785" y="1740877"/>
            <a:ext cx="11306907" cy="4536831"/>
          </a:xfrm>
        </p:spPr>
        <p:txBody>
          <a:bodyPr/>
          <a:lstStyle/>
          <a:p>
            <a:pPr algn="l"/>
            <a:r>
              <a:rPr lang="en-US" b="0" i="0" dirty="0">
                <a:solidFill>
                  <a:srgbClr val="414A53"/>
                </a:solidFill>
                <a:effectLst/>
                <a:latin typeface="Inter"/>
              </a:rPr>
              <a:t>Rajasthan Government supports insurance initiatives towards its citizens under the </a:t>
            </a:r>
            <a:r>
              <a:rPr lang="en-US" b="0" i="0" dirty="0" err="1">
                <a:solidFill>
                  <a:srgbClr val="414A53"/>
                </a:solidFill>
                <a:effectLst/>
                <a:latin typeface="Inter"/>
              </a:rPr>
              <a:t>Bahmashah</a:t>
            </a:r>
            <a:r>
              <a:rPr lang="en-US" b="0" i="0" dirty="0">
                <a:solidFill>
                  <a:srgbClr val="414A53"/>
                </a:solidFill>
                <a:effectLst/>
                <a:latin typeface="Inter"/>
              </a:rPr>
              <a:t> </a:t>
            </a:r>
            <a:r>
              <a:rPr lang="en-US" b="0" i="0" dirty="0" err="1">
                <a:solidFill>
                  <a:srgbClr val="414A53"/>
                </a:solidFill>
                <a:effectLst/>
                <a:latin typeface="Inter"/>
              </a:rPr>
              <a:t>Swasthya</a:t>
            </a:r>
            <a:r>
              <a:rPr lang="en-US" b="0" i="0" dirty="0">
                <a:solidFill>
                  <a:srgbClr val="414A53"/>
                </a:solidFill>
                <a:effectLst/>
                <a:latin typeface="Inter"/>
              </a:rPr>
              <a:t> </a:t>
            </a:r>
            <a:r>
              <a:rPr lang="en-US" b="0" i="0" dirty="0" err="1">
                <a:solidFill>
                  <a:srgbClr val="414A53"/>
                </a:solidFill>
                <a:effectLst/>
                <a:latin typeface="Inter"/>
              </a:rPr>
              <a:t>Bima</a:t>
            </a:r>
            <a:r>
              <a:rPr lang="en-US" b="0" i="0" dirty="0">
                <a:solidFill>
                  <a:srgbClr val="414A53"/>
                </a:solidFill>
                <a:effectLst/>
                <a:latin typeface="Inter"/>
              </a:rPr>
              <a:t> Yojana. This is a cashless claims scheme for rural people of Rajasthan. There is no prescribed age limit for availing the benefits of this scheme.</a:t>
            </a:r>
          </a:p>
          <a:p>
            <a:pPr algn="l"/>
            <a:r>
              <a:rPr lang="en-US" b="0" i="0" dirty="0">
                <a:solidFill>
                  <a:srgbClr val="414A53"/>
                </a:solidFill>
                <a:effectLst/>
                <a:latin typeface="Inter"/>
              </a:rPr>
              <a:t>Those who are a part of the National Food Security Act (NFSA) and the </a:t>
            </a:r>
            <a:r>
              <a:rPr lang="en-US" b="0" i="0" u="none" strike="noStrike" dirty="0" err="1">
                <a:solidFill>
                  <a:srgbClr val="6327B7"/>
                </a:solidFill>
                <a:effectLst/>
                <a:latin typeface="Inter"/>
                <a:hlinkClick r:id="rId2"/>
              </a:rPr>
              <a:t>Rashtriya</a:t>
            </a:r>
            <a:r>
              <a:rPr lang="en-US" b="0" i="0" u="none" strike="noStrike" dirty="0">
                <a:solidFill>
                  <a:srgbClr val="6327B7"/>
                </a:solidFill>
                <a:effectLst/>
                <a:latin typeface="Inter"/>
                <a:hlinkClick r:id="rId2"/>
              </a:rPr>
              <a:t> </a:t>
            </a:r>
            <a:r>
              <a:rPr lang="en-US" b="0" i="0" u="none" strike="noStrike" dirty="0" err="1">
                <a:solidFill>
                  <a:srgbClr val="6327B7"/>
                </a:solidFill>
                <a:effectLst/>
                <a:latin typeface="Inter"/>
                <a:hlinkClick r:id="rId2"/>
              </a:rPr>
              <a:t>Swasthya</a:t>
            </a:r>
            <a:r>
              <a:rPr lang="en-US" b="0" i="0" u="none" strike="noStrike" dirty="0">
                <a:solidFill>
                  <a:srgbClr val="6327B7"/>
                </a:solidFill>
                <a:effectLst/>
                <a:latin typeface="Inter"/>
                <a:hlinkClick r:id="rId2"/>
              </a:rPr>
              <a:t> </a:t>
            </a:r>
            <a:r>
              <a:rPr lang="en-US" b="0" i="0" u="none" strike="noStrike" dirty="0" err="1">
                <a:solidFill>
                  <a:srgbClr val="6327B7"/>
                </a:solidFill>
                <a:effectLst/>
                <a:latin typeface="Inter"/>
                <a:hlinkClick r:id="rId2"/>
              </a:rPr>
              <a:t>Bima</a:t>
            </a:r>
            <a:r>
              <a:rPr lang="en-US" b="0" i="0" u="none" strike="noStrike" dirty="0">
                <a:solidFill>
                  <a:srgbClr val="6327B7"/>
                </a:solidFill>
                <a:effectLst/>
                <a:latin typeface="Inter"/>
                <a:hlinkClick r:id="rId2"/>
              </a:rPr>
              <a:t> Yojana</a:t>
            </a:r>
            <a:r>
              <a:rPr lang="en-US" b="0" i="0" dirty="0">
                <a:solidFill>
                  <a:srgbClr val="414A53"/>
                </a:solidFill>
                <a:effectLst/>
                <a:latin typeface="Inter"/>
              </a:rPr>
              <a:t> (RSBY) are also qualified for this insurance policy. This scheme covers hospitalization expenses for general illness as well as critical illnesses as per the terms and conditions. It covers both in-patient as well as out-patient expenses.</a:t>
            </a:r>
          </a:p>
          <a:p>
            <a:endParaRPr lang="en-IN" dirty="0"/>
          </a:p>
        </p:txBody>
      </p:sp>
    </p:spTree>
    <p:extLst>
      <p:ext uri="{BB962C8B-B14F-4D97-AF65-F5344CB8AC3E}">
        <p14:creationId xmlns:p14="http://schemas.microsoft.com/office/powerpoint/2010/main" val="17495529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50DD6-E837-48C8-B4D1-B6EECC488253}"/>
              </a:ext>
            </a:extLst>
          </p:cNvPr>
          <p:cNvSpPr>
            <a:spLocks noGrp="1"/>
          </p:cNvSpPr>
          <p:nvPr>
            <p:ph type="ctrTitle"/>
          </p:nvPr>
        </p:nvSpPr>
        <p:spPr>
          <a:xfrm>
            <a:off x="369277" y="298938"/>
            <a:ext cx="11517923" cy="1160585"/>
          </a:xfrm>
        </p:spPr>
        <p:txBody>
          <a:bodyPr>
            <a:noAutofit/>
          </a:bodyPr>
          <a:lstStyle/>
          <a:p>
            <a:r>
              <a:rPr lang="en-US" sz="3600" b="0" i="0" dirty="0">
                <a:solidFill>
                  <a:srgbClr val="111111"/>
                </a:solidFill>
                <a:effectLst/>
                <a:latin typeface="Inter"/>
              </a:rPr>
              <a:t>Central Government Health Scheme (CGHS)</a:t>
            </a:r>
            <a:br>
              <a:rPr lang="en-US" sz="3600" b="0" i="0" dirty="0">
                <a:solidFill>
                  <a:srgbClr val="111111"/>
                </a:solidFill>
                <a:effectLst/>
                <a:latin typeface="Inter"/>
              </a:rPr>
            </a:br>
            <a:endParaRPr lang="en-IN" sz="3600" dirty="0"/>
          </a:p>
        </p:txBody>
      </p:sp>
      <p:sp>
        <p:nvSpPr>
          <p:cNvPr id="3" name="Subtitle 2">
            <a:extLst>
              <a:ext uri="{FF2B5EF4-FFF2-40B4-BE49-F238E27FC236}">
                <a16:creationId xmlns:a16="http://schemas.microsoft.com/office/drawing/2014/main" id="{F0F65E95-84BB-41ED-B98F-17BE4CA1A352}"/>
              </a:ext>
            </a:extLst>
          </p:cNvPr>
          <p:cNvSpPr>
            <a:spLocks noGrp="1"/>
          </p:cNvSpPr>
          <p:nvPr>
            <p:ph type="subTitle" idx="1"/>
          </p:nvPr>
        </p:nvSpPr>
        <p:spPr>
          <a:xfrm>
            <a:off x="369277" y="2162908"/>
            <a:ext cx="11517923" cy="4167554"/>
          </a:xfrm>
        </p:spPr>
        <p:txBody>
          <a:bodyPr/>
          <a:lstStyle/>
          <a:p>
            <a:pPr algn="l"/>
            <a:r>
              <a:rPr lang="en-US" b="0" i="0" dirty="0">
                <a:solidFill>
                  <a:srgbClr val="414A53"/>
                </a:solidFill>
                <a:effectLst/>
                <a:latin typeface="Inter"/>
              </a:rPr>
              <a:t>As the name suggests, this policy is initiated by India’s Central Government. Central Government employees are eligible for this policy. For example, Supreme Court judges, Certain Railway Board employees, etc. This policy has been active for six decades and has covered more than 35 lakh employees and pensioners.</a:t>
            </a:r>
          </a:p>
          <a:p>
            <a:pPr algn="l"/>
            <a:r>
              <a:rPr lang="en-US" b="0" i="0" dirty="0">
                <a:solidFill>
                  <a:srgbClr val="414A53"/>
                </a:solidFill>
                <a:effectLst/>
                <a:latin typeface="Inter"/>
              </a:rPr>
              <a:t>Hospitalization, as well as domiciliary care, are covered as per this plan’s terms and conditions. Central Government Health Insurance Scheme covers Allopathy and Homeopathy as well. It is available in 71 cities and the plan is to expand the scope to more areas.</a:t>
            </a:r>
          </a:p>
          <a:p>
            <a:endParaRPr lang="en-IN" dirty="0"/>
          </a:p>
        </p:txBody>
      </p:sp>
    </p:spTree>
    <p:extLst>
      <p:ext uri="{BB962C8B-B14F-4D97-AF65-F5344CB8AC3E}">
        <p14:creationId xmlns:p14="http://schemas.microsoft.com/office/powerpoint/2010/main" val="21616994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0EFAF-B0F1-4797-8098-265AF4E5A730}"/>
              </a:ext>
            </a:extLst>
          </p:cNvPr>
          <p:cNvSpPr>
            <a:spLocks noGrp="1"/>
          </p:cNvSpPr>
          <p:nvPr>
            <p:ph type="ctrTitle"/>
          </p:nvPr>
        </p:nvSpPr>
        <p:spPr>
          <a:xfrm>
            <a:off x="422031" y="457201"/>
            <a:ext cx="11394831" cy="1143000"/>
          </a:xfrm>
        </p:spPr>
        <p:txBody>
          <a:bodyPr>
            <a:noAutofit/>
          </a:bodyPr>
          <a:lstStyle/>
          <a:p>
            <a:r>
              <a:rPr lang="en-US" sz="3600" b="0" i="0" dirty="0">
                <a:solidFill>
                  <a:srgbClr val="111111"/>
                </a:solidFill>
                <a:effectLst/>
                <a:latin typeface="Inter"/>
              </a:rPr>
              <a:t>Chief Minister’s Comprehensive Insurance Scheme</a:t>
            </a:r>
            <a:br>
              <a:rPr lang="en-US" sz="3600" b="0" i="0" dirty="0">
                <a:solidFill>
                  <a:srgbClr val="111111"/>
                </a:solidFill>
                <a:effectLst/>
                <a:latin typeface="Inter"/>
              </a:rPr>
            </a:br>
            <a:endParaRPr lang="en-IN" sz="3600" dirty="0"/>
          </a:p>
        </p:txBody>
      </p:sp>
      <p:sp>
        <p:nvSpPr>
          <p:cNvPr id="3" name="Subtitle 2">
            <a:extLst>
              <a:ext uri="{FF2B5EF4-FFF2-40B4-BE49-F238E27FC236}">
                <a16:creationId xmlns:a16="http://schemas.microsoft.com/office/drawing/2014/main" id="{661788D7-9513-4DCA-8804-BCA0036664E2}"/>
              </a:ext>
            </a:extLst>
          </p:cNvPr>
          <p:cNvSpPr>
            <a:spLocks noGrp="1"/>
          </p:cNvSpPr>
          <p:nvPr>
            <p:ph type="subTitle" idx="1"/>
          </p:nvPr>
        </p:nvSpPr>
        <p:spPr>
          <a:xfrm>
            <a:off x="422031" y="2039815"/>
            <a:ext cx="11394831" cy="4360984"/>
          </a:xfrm>
        </p:spPr>
        <p:txBody>
          <a:bodyPr/>
          <a:lstStyle/>
          <a:p>
            <a:pPr algn="l"/>
            <a:r>
              <a:rPr lang="en-US" b="0" i="0" dirty="0">
                <a:solidFill>
                  <a:srgbClr val="414A53"/>
                </a:solidFill>
                <a:effectLst/>
                <a:latin typeface="Inter"/>
              </a:rPr>
              <a:t>This is a state government scheme. It is promoted by Tamil Nadu Government in association with United India Insurance Company Ltd. The </a:t>
            </a:r>
            <a:r>
              <a:rPr lang="en-US" b="0" i="0" u="none" strike="noStrike" dirty="0">
                <a:solidFill>
                  <a:srgbClr val="6327B7"/>
                </a:solidFill>
                <a:effectLst/>
                <a:latin typeface="Inter"/>
                <a:hlinkClick r:id="rId2"/>
              </a:rPr>
              <a:t>Chief Minister’s Comprehensive Insurance Scheme</a:t>
            </a:r>
            <a:r>
              <a:rPr lang="en-US" b="0" i="0" dirty="0">
                <a:solidFill>
                  <a:srgbClr val="414A53"/>
                </a:solidFill>
                <a:effectLst/>
                <a:latin typeface="Inter"/>
              </a:rPr>
              <a:t> is a family floater plan designed for quality health care.</a:t>
            </a:r>
          </a:p>
          <a:p>
            <a:pPr algn="l"/>
            <a:r>
              <a:rPr lang="en-US" b="0" i="0" dirty="0">
                <a:solidFill>
                  <a:srgbClr val="414A53"/>
                </a:solidFill>
                <a:effectLst/>
                <a:latin typeface="Inter"/>
              </a:rPr>
              <a:t>One can claim for hospitalization expenses up to Rs. 5 lakhs under this policy. Select government and private hospitals are a part of this scheme. People residing in Tamil Nadu earning less than Rs. 75000 annually are eligible for this scheme. More than a thousand procedures are covered under the Chief Minister’s Comprehensive Insurance Scheme.</a:t>
            </a:r>
          </a:p>
          <a:p>
            <a:endParaRPr lang="en-IN" dirty="0"/>
          </a:p>
        </p:txBody>
      </p:sp>
    </p:spTree>
    <p:extLst>
      <p:ext uri="{BB962C8B-B14F-4D97-AF65-F5344CB8AC3E}">
        <p14:creationId xmlns:p14="http://schemas.microsoft.com/office/powerpoint/2010/main" val="6820014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AF0F7-4BF8-4841-A29B-B9837B434C74}"/>
              </a:ext>
            </a:extLst>
          </p:cNvPr>
          <p:cNvSpPr>
            <a:spLocks noGrp="1"/>
          </p:cNvSpPr>
          <p:nvPr>
            <p:ph type="ctrTitle"/>
          </p:nvPr>
        </p:nvSpPr>
        <p:spPr>
          <a:xfrm>
            <a:off x="281355" y="404446"/>
            <a:ext cx="11517922" cy="1459523"/>
          </a:xfrm>
        </p:spPr>
        <p:txBody>
          <a:bodyPr>
            <a:normAutofit fontScale="90000"/>
          </a:bodyPr>
          <a:lstStyle/>
          <a:p>
            <a:r>
              <a:rPr lang="en-IN" sz="4000" b="0" i="0" dirty="0">
                <a:solidFill>
                  <a:srgbClr val="111111"/>
                </a:solidFill>
                <a:effectLst/>
                <a:latin typeface="Inter"/>
              </a:rPr>
              <a:t>Employees’ State Insurance Scheme</a:t>
            </a:r>
            <a:br>
              <a:rPr lang="en-IN" b="0" i="0" dirty="0">
                <a:solidFill>
                  <a:srgbClr val="111111"/>
                </a:solidFill>
                <a:effectLst/>
                <a:latin typeface="Inter"/>
              </a:rPr>
            </a:br>
            <a:endParaRPr lang="en-IN" dirty="0"/>
          </a:p>
        </p:txBody>
      </p:sp>
      <p:sp>
        <p:nvSpPr>
          <p:cNvPr id="3" name="Subtitle 2">
            <a:extLst>
              <a:ext uri="{FF2B5EF4-FFF2-40B4-BE49-F238E27FC236}">
                <a16:creationId xmlns:a16="http://schemas.microsoft.com/office/drawing/2014/main" id="{B70EF5E9-FD4F-449B-A2CC-7B3775269504}"/>
              </a:ext>
            </a:extLst>
          </p:cNvPr>
          <p:cNvSpPr>
            <a:spLocks noGrp="1"/>
          </p:cNvSpPr>
          <p:nvPr>
            <p:ph type="subTitle" idx="1"/>
          </p:nvPr>
        </p:nvSpPr>
        <p:spPr>
          <a:xfrm>
            <a:off x="281355" y="1573823"/>
            <a:ext cx="11517921" cy="3710354"/>
          </a:xfrm>
        </p:spPr>
        <p:txBody>
          <a:bodyPr/>
          <a:lstStyle/>
          <a:p>
            <a:pPr algn="l"/>
            <a:r>
              <a:rPr lang="en-US" b="0" i="0" dirty="0">
                <a:solidFill>
                  <a:srgbClr val="414A53"/>
                </a:solidFill>
                <a:effectLst/>
                <a:latin typeface="Inter"/>
              </a:rPr>
              <a:t>A huge number of people worked in factories post-independence in India. The working conditions were such that there were injuries and deaths as well. This is where the concept of insurance proved beneficial. </a:t>
            </a:r>
            <a:r>
              <a:rPr lang="en-US" b="0" i="0" u="none" strike="noStrike" dirty="0">
                <a:solidFill>
                  <a:srgbClr val="6327B7"/>
                </a:solidFill>
                <a:effectLst/>
                <a:latin typeface="Inter"/>
                <a:hlinkClick r:id="rId2"/>
              </a:rPr>
              <a:t>Employees’ State Insurance Scheme</a:t>
            </a:r>
            <a:r>
              <a:rPr lang="en-US" b="0" i="0" dirty="0">
                <a:solidFill>
                  <a:srgbClr val="414A53"/>
                </a:solidFill>
                <a:effectLst/>
                <a:latin typeface="Inter"/>
              </a:rPr>
              <a:t> was launched in the year 1952 to offer a financial cover in case of illness, disability or death faced by insured workers/employees.</a:t>
            </a:r>
          </a:p>
          <a:p>
            <a:pPr algn="l"/>
            <a:r>
              <a:rPr lang="en-US" b="0" i="0" dirty="0">
                <a:solidFill>
                  <a:srgbClr val="414A53"/>
                </a:solidFill>
                <a:effectLst/>
                <a:latin typeface="Inter"/>
              </a:rPr>
              <a:t>Initially, only Kanpur and Delhi were considered, but the scope of the scheme expanded with time. This policy got an upgrade in the year 2015. Now, more than 7 lakh factories are a part of this scheme.</a:t>
            </a:r>
          </a:p>
          <a:p>
            <a:endParaRPr lang="en-IN" dirty="0"/>
          </a:p>
        </p:txBody>
      </p:sp>
    </p:spTree>
    <p:extLst>
      <p:ext uri="{BB962C8B-B14F-4D97-AF65-F5344CB8AC3E}">
        <p14:creationId xmlns:p14="http://schemas.microsoft.com/office/powerpoint/2010/main" val="23897630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1D486-ECF4-4AD2-AB03-AEB54A81374E}"/>
              </a:ext>
            </a:extLst>
          </p:cNvPr>
          <p:cNvSpPr>
            <a:spLocks noGrp="1"/>
          </p:cNvSpPr>
          <p:nvPr>
            <p:ph type="ctrTitle"/>
          </p:nvPr>
        </p:nvSpPr>
        <p:spPr>
          <a:xfrm>
            <a:off x="328246" y="404446"/>
            <a:ext cx="11535508" cy="1354016"/>
          </a:xfrm>
        </p:spPr>
        <p:txBody>
          <a:bodyPr>
            <a:normAutofit fontScale="90000"/>
          </a:bodyPr>
          <a:lstStyle/>
          <a:p>
            <a:r>
              <a:rPr lang="en-IN" sz="3600" b="0" i="0" dirty="0" err="1">
                <a:solidFill>
                  <a:srgbClr val="111111"/>
                </a:solidFill>
                <a:effectLst/>
                <a:latin typeface="Inter"/>
              </a:rPr>
              <a:t>Karunya</a:t>
            </a:r>
            <a:r>
              <a:rPr lang="en-IN" sz="3600" b="0" i="0" dirty="0">
                <a:solidFill>
                  <a:srgbClr val="111111"/>
                </a:solidFill>
                <a:effectLst/>
                <a:latin typeface="Inter"/>
              </a:rPr>
              <a:t> Health Scheme</a:t>
            </a:r>
            <a:br>
              <a:rPr lang="en-IN" b="0" i="0" dirty="0">
                <a:solidFill>
                  <a:srgbClr val="111111"/>
                </a:solidFill>
                <a:effectLst/>
                <a:latin typeface="Inter"/>
              </a:rPr>
            </a:br>
            <a:endParaRPr lang="en-IN" dirty="0"/>
          </a:p>
        </p:txBody>
      </p:sp>
      <p:sp>
        <p:nvSpPr>
          <p:cNvPr id="3" name="Subtitle 2">
            <a:extLst>
              <a:ext uri="{FF2B5EF4-FFF2-40B4-BE49-F238E27FC236}">
                <a16:creationId xmlns:a16="http://schemas.microsoft.com/office/drawing/2014/main" id="{215635AA-C743-430F-A447-4C34BCB815DF}"/>
              </a:ext>
            </a:extLst>
          </p:cNvPr>
          <p:cNvSpPr>
            <a:spLocks noGrp="1"/>
          </p:cNvSpPr>
          <p:nvPr>
            <p:ph type="subTitle" idx="1"/>
          </p:nvPr>
        </p:nvSpPr>
        <p:spPr>
          <a:xfrm>
            <a:off x="328246" y="1450731"/>
            <a:ext cx="11277600" cy="3956538"/>
          </a:xfrm>
        </p:spPr>
        <p:txBody>
          <a:bodyPr>
            <a:normAutofit/>
          </a:bodyPr>
          <a:lstStyle/>
          <a:p>
            <a:pPr algn="l"/>
            <a:r>
              <a:rPr lang="en-US" b="0" i="0" dirty="0">
                <a:solidFill>
                  <a:srgbClr val="414A53"/>
                </a:solidFill>
                <a:effectLst/>
                <a:latin typeface="Inter"/>
              </a:rPr>
              <a:t>Kerala Government had launched this initiative in the year 2012. </a:t>
            </a:r>
            <a:r>
              <a:rPr lang="en-US" b="0" i="0" dirty="0" err="1">
                <a:solidFill>
                  <a:srgbClr val="414A53"/>
                </a:solidFill>
                <a:effectLst/>
                <a:latin typeface="Inter"/>
              </a:rPr>
              <a:t>Karunya</a:t>
            </a:r>
            <a:r>
              <a:rPr lang="en-US" b="0" i="0" dirty="0">
                <a:solidFill>
                  <a:srgbClr val="414A53"/>
                </a:solidFill>
                <a:effectLst/>
                <a:latin typeface="Inter"/>
              </a:rPr>
              <a:t> Health Scheme is directed towards providing Health Insurance for listed chronic illnesses. It is a Critical Illness plan for the poor and covers major diseases such as Cancer, Kidney Ailments, Heart-related medical issues, etc. </a:t>
            </a:r>
          </a:p>
          <a:p>
            <a:pPr algn="l"/>
            <a:r>
              <a:rPr lang="en-US" b="0" i="0" dirty="0">
                <a:solidFill>
                  <a:srgbClr val="414A53"/>
                </a:solidFill>
                <a:effectLst/>
                <a:latin typeface="Inter"/>
              </a:rPr>
              <a:t>Those below or near the poverty line can </a:t>
            </a:r>
            <a:r>
              <a:rPr lang="en-US" b="0" i="0" dirty="0" err="1">
                <a:solidFill>
                  <a:srgbClr val="414A53"/>
                </a:solidFill>
                <a:effectLst/>
                <a:latin typeface="Inter"/>
              </a:rPr>
              <a:t>enrol</a:t>
            </a:r>
            <a:r>
              <a:rPr lang="en-US" b="0" i="0" dirty="0">
                <a:solidFill>
                  <a:srgbClr val="414A53"/>
                </a:solidFill>
                <a:effectLst/>
                <a:latin typeface="Inter"/>
              </a:rPr>
              <a:t> themselves for this cover. Aadhaar Card and appropriate Income Certificate are needed for this scheme. There were </a:t>
            </a:r>
            <a:r>
              <a:rPr lang="en-US" b="0" i="0" dirty="0" err="1">
                <a:solidFill>
                  <a:srgbClr val="414A53"/>
                </a:solidFill>
                <a:effectLst/>
                <a:latin typeface="Inter"/>
              </a:rPr>
              <a:t>rumours</a:t>
            </a:r>
            <a:r>
              <a:rPr lang="en-US" b="0" i="0" dirty="0">
                <a:solidFill>
                  <a:srgbClr val="414A53"/>
                </a:solidFill>
                <a:effectLst/>
                <a:latin typeface="Inter"/>
              </a:rPr>
              <a:t> that this scheme has been abolished, however, they were just </a:t>
            </a:r>
            <a:r>
              <a:rPr lang="en-US" b="0" i="0" dirty="0" err="1">
                <a:solidFill>
                  <a:srgbClr val="414A53"/>
                </a:solidFill>
                <a:effectLst/>
                <a:latin typeface="Inter"/>
              </a:rPr>
              <a:t>rumours</a:t>
            </a:r>
            <a:r>
              <a:rPr lang="en-US" b="0" i="0" dirty="0">
                <a:solidFill>
                  <a:srgbClr val="414A53"/>
                </a:solidFill>
                <a:effectLst/>
                <a:latin typeface="Inter"/>
              </a:rPr>
              <a:t> as this scheme is still active.</a:t>
            </a:r>
          </a:p>
          <a:p>
            <a:endParaRPr lang="en-IN" dirty="0"/>
          </a:p>
        </p:txBody>
      </p:sp>
    </p:spTree>
    <p:extLst>
      <p:ext uri="{BB962C8B-B14F-4D97-AF65-F5344CB8AC3E}">
        <p14:creationId xmlns:p14="http://schemas.microsoft.com/office/powerpoint/2010/main" val="30125486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DA50D-AF88-4E1C-BE7C-D0BF9463B0F9}"/>
              </a:ext>
            </a:extLst>
          </p:cNvPr>
          <p:cNvSpPr>
            <a:spLocks noGrp="1"/>
          </p:cNvSpPr>
          <p:nvPr>
            <p:ph type="ctrTitle"/>
          </p:nvPr>
        </p:nvSpPr>
        <p:spPr>
          <a:xfrm>
            <a:off x="424961" y="369277"/>
            <a:ext cx="11342077" cy="829284"/>
          </a:xfrm>
        </p:spPr>
        <p:txBody>
          <a:bodyPr>
            <a:normAutofit/>
          </a:bodyPr>
          <a:lstStyle/>
          <a:p>
            <a:r>
              <a:rPr lang="en-IN" sz="4000" b="0" i="0" dirty="0">
                <a:solidFill>
                  <a:srgbClr val="111111"/>
                </a:solidFill>
                <a:effectLst/>
                <a:latin typeface="Inter"/>
              </a:rPr>
              <a:t>Mahatma </a:t>
            </a:r>
            <a:r>
              <a:rPr lang="en-IN" sz="4000" b="0" i="0" dirty="0" err="1">
                <a:solidFill>
                  <a:srgbClr val="111111"/>
                </a:solidFill>
                <a:effectLst/>
                <a:latin typeface="Inter"/>
              </a:rPr>
              <a:t>Jyotiba</a:t>
            </a:r>
            <a:r>
              <a:rPr lang="en-IN" sz="4000" b="0" i="0" dirty="0">
                <a:solidFill>
                  <a:srgbClr val="111111"/>
                </a:solidFill>
                <a:effectLst/>
                <a:latin typeface="Inter"/>
              </a:rPr>
              <a:t> Phule Jan Arogya Yojana</a:t>
            </a:r>
            <a:endParaRPr lang="en-IN" dirty="0"/>
          </a:p>
        </p:txBody>
      </p:sp>
      <p:sp>
        <p:nvSpPr>
          <p:cNvPr id="3" name="Subtitle 2">
            <a:extLst>
              <a:ext uri="{FF2B5EF4-FFF2-40B4-BE49-F238E27FC236}">
                <a16:creationId xmlns:a16="http://schemas.microsoft.com/office/drawing/2014/main" id="{5ECD9A15-7FBB-4D1A-BBF4-A1A6B323725D}"/>
              </a:ext>
            </a:extLst>
          </p:cNvPr>
          <p:cNvSpPr>
            <a:spLocks noGrp="1"/>
          </p:cNvSpPr>
          <p:nvPr>
            <p:ph type="subTitle" idx="1"/>
          </p:nvPr>
        </p:nvSpPr>
        <p:spPr>
          <a:xfrm>
            <a:off x="424961" y="2039815"/>
            <a:ext cx="11342077" cy="4202723"/>
          </a:xfrm>
        </p:spPr>
        <p:txBody>
          <a:bodyPr/>
          <a:lstStyle/>
          <a:p>
            <a:pPr algn="l"/>
            <a:r>
              <a:rPr lang="en-US" b="0" i="0" dirty="0">
                <a:solidFill>
                  <a:srgbClr val="414A53"/>
                </a:solidFill>
                <a:effectLst/>
                <a:latin typeface="Inter"/>
              </a:rPr>
              <a:t>This policy is initiated by the Government of Maharashtra for the betterment of its downtrodden people. Rajiv Gandhi </a:t>
            </a:r>
            <a:r>
              <a:rPr lang="en-US" b="0" i="0" dirty="0" err="1">
                <a:solidFill>
                  <a:srgbClr val="414A53"/>
                </a:solidFill>
                <a:effectLst/>
                <a:latin typeface="Inter"/>
              </a:rPr>
              <a:t>Jeevandayee</a:t>
            </a:r>
            <a:r>
              <a:rPr lang="en-US" b="0" i="0" dirty="0">
                <a:solidFill>
                  <a:srgbClr val="414A53"/>
                </a:solidFill>
                <a:effectLst/>
                <a:latin typeface="Inter"/>
              </a:rPr>
              <a:t> Arogya Yojana was renamed as </a:t>
            </a:r>
            <a:r>
              <a:rPr lang="en-US" b="0" i="0" u="none" strike="noStrike" dirty="0">
                <a:solidFill>
                  <a:srgbClr val="6327B7"/>
                </a:solidFill>
                <a:effectLst/>
                <a:latin typeface="Inter"/>
                <a:hlinkClick r:id="rId2"/>
              </a:rPr>
              <a:t>Mahatma </a:t>
            </a:r>
            <a:r>
              <a:rPr lang="en-US" b="0" i="0" u="none" strike="noStrike" dirty="0" err="1">
                <a:solidFill>
                  <a:srgbClr val="6327B7"/>
                </a:solidFill>
                <a:effectLst/>
                <a:latin typeface="Inter"/>
                <a:hlinkClick r:id="rId2"/>
              </a:rPr>
              <a:t>Jyotiba</a:t>
            </a:r>
            <a:r>
              <a:rPr lang="en-US" b="0" i="0" u="none" strike="noStrike" dirty="0">
                <a:solidFill>
                  <a:srgbClr val="6327B7"/>
                </a:solidFill>
                <a:effectLst/>
                <a:latin typeface="Inter"/>
                <a:hlinkClick r:id="rId2"/>
              </a:rPr>
              <a:t> Phule Jan Arogya Yojana</a:t>
            </a:r>
            <a:r>
              <a:rPr lang="en-US" b="0" i="0" dirty="0">
                <a:solidFill>
                  <a:srgbClr val="414A53"/>
                </a:solidFill>
                <a:effectLst/>
                <a:latin typeface="Inter"/>
              </a:rPr>
              <a:t> in the year 2017.</a:t>
            </a:r>
          </a:p>
          <a:p>
            <a:pPr algn="l"/>
            <a:r>
              <a:rPr lang="en-US" b="0" i="0" dirty="0">
                <a:solidFill>
                  <a:srgbClr val="414A53"/>
                </a:solidFill>
                <a:effectLst/>
                <a:latin typeface="Inter"/>
              </a:rPr>
              <a:t>Farmers from select districts and people below and around the poverty line across all districts are eligible for this scheme. It is a family cover with a benefit of Rs. 150000. The diseases mentioned as inclusions in the scheme shall be covered from day one, without any waiting period unless specified.</a:t>
            </a:r>
          </a:p>
          <a:p>
            <a:endParaRPr lang="en-IN" dirty="0"/>
          </a:p>
        </p:txBody>
      </p:sp>
    </p:spTree>
    <p:extLst>
      <p:ext uri="{BB962C8B-B14F-4D97-AF65-F5344CB8AC3E}">
        <p14:creationId xmlns:p14="http://schemas.microsoft.com/office/powerpoint/2010/main" val="7992186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AA41E-67DC-4E05-AAD1-A708827143F5}"/>
              </a:ext>
            </a:extLst>
          </p:cNvPr>
          <p:cNvSpPr>
            <a:spLocks noGrp="1"/>
          </p:cNvSpPr>
          <p:nvPr>
            <p:ph type="ctrTitle"/>
          </p:nvPr>
        </p:nvSpPr>
        <p:spPr>
          <a:xfrm>
            <a:off x="281353" y="562710"/>
            <a:ext cx="11183815" cy="1705705"/>
          </a:xfrm>
        </p:spPr>
        <p:txBody>
          <a:bodyPr>
            <a:normAutofit fontScale="90000"/>
          </a:bodyPr>
          <a:lstStyle/>
          <a:p>
            <a:r>
              <a:rPr lang="en-IN" b="0" i="0" dirty="0">
                <a:solidFill>
                  <a:srgbClr val="111111"/>
                </a:solidFill>
                <a:effectLst/>
                <a:latin typeface="Inter"/>
              </a:rPr>
              <a:t> </a:t>
            </a:r>
            <a:r>
              <a:rPr lang="en-IN" sz="4000" b="0" i="0" dirty="0" err="1">
                <a:solidFill>
                  <a:srgbClr val="111111"/>
                </a:solidFill>
                <a:effectLst/>
                <a:latin typeface="Inter"/>
              </a:rPr>
              <a:t>Mukhyamantri</a:t>
            </a:r>
            <a:r>
              <a:rPr lang="en-IN" sz="4000" b="0" i="0" dirty="0">
                <a:solidFill>
                  <a:srgbClr val="111111"/>
                </a:solidFill>
                <a:effectLst/>
                <a:latin typeface="Inter"/>
              </a:rPr>
              <a:t> </a:t>
            </a:r>
            <a:r>
              <a:rPr lang="en-IN" sz="4000" b="0" i="0" dirty="0" err="1">
                <a:solidFill>
                  <a:srgbClr val="111111"/>
                </a:solidFill>
                <a:effectLst/>
                <a:latin typeface="Inter"/>
              </a:rPr>
              <a:t>Amrutum</a:t>
            </a:r>
            <a:r>
              <a:rPr lang="en-IN" sz="4000" b="0" i="0" dirty="0">
                <a:solidFill>
                  <a:srgbClr val="111111"/>
                </a:solidFill>
                <a:effectLst/>
                <a:latin typeface="Inter"/>
              </a:rPr>
              <a:t> Yojana</a:t>
            </a:r>
            <a:br>
              <a:rPr lang="en-IN" sz="4000" b="0" i="0" dirty="0">
                <a:solidFill>
                  <a:srgbClr val="111111"/>
                </a:solidFill>
                <a:effectLst/>
                <a:latin typeface="Inter"/>
              </a:rPr>
            </a:br>
            <a:endParaRPr lang="en-IN" dirty="0"/>
          </a:p>
        </p:txBody>
      </p:sp>
      <p:sp>
        <p:nvSpPr>
          <p:cNvPr id="3" name="Subtitle 2">
            <a:extLst>
              <a:ext uri="{FF2B5EF4-FFF2-40B4-BE49-F238E27FC236}">
                <a16:creationId xmlns:a16="http://schemas.microsoft.com/office/drawing/2014/main" id="{14AC88DF-BEC0-450F-8E8D-847E1D46DE13}"/>
              </a:ext>
            </a:extLst>
          </p:cNvPr>
          <p:cNvSpPr>
            <a:spLocks noGrp="1"/>
          </p:cNvSpPr>
          <p:nvPr>
            <p:ph type="subTitle" idx="1"/>
          </p:nvPr>
        </p:nvSpPr>
        <p:spPr>
          <a:xfrm>
            <a:off x="281353" y="2127737"/>
            <a:ext cx="11183815" cy="4167553"/>
          </a:xfrm>
        </p:spPr>
        <p:txBody>
          <a:bodyPr/>
          <a:lstStyle/>
          <a:p>
            <a:pPr algn="l"/>
            <a:r>
              <a:rPr lang="en-US" b="0" i="0" dirty="0">
                <a:solidFill>
                  <a:srgbClr val="414A53"/>
                </a:solidFill>
                <a:effectLst/>
                <a:latin typeface="Inter"/>
              </a:rPr>
              <a:t>The Government of Gujarat launched the </a:t>
            </a:r>
            <a:r>
              <a:rPr lang="en-US" b="0" i="0" u="none" strike="noStrike" dirty="0" err="1">
                <a:solidFill>
                  <a:srgbClr val="6327B7"/>
                </a:solidFill>
                <a:effectLst/>
                <a:latin typeface="Inter"/>
                <a:hlinkClick r:id="rId2"/>
              </a:rPr>
              <a:t>Mukhyamantri</a:t>
            </a:r>
            <a:r>
              <a:rPr lang="en-US" b="0" i="0" u="none" strike="noStrike" dirty="0">
                <a:solidFill>
                  <a:srgbClr val="6327B7"/>
                </a:solidFill>
                <a:effectLst/>
                <a:latin typeface="Inter"/>
                <a:hlinkClick r:id="rId2"/>
              </a:rPr>
              <a:t> </a:t>
            </a:r>
            <a:r>
              <a:rPr lang="en-US" b="0" i="0" u="none" strike="noStrike" dirty="0" err="1">
                <a:solidFill>
                  <a:srgbClr val="6327B7"/>
                </a:solidFill>
                <a:effectLst/>
                <a:latin typeface="Inter"/>
                <a:hlinkClick r:id="rId2"/>
              </a:rPr>
              <a:t>Amrutum</a:t>
            </a:r>
            <a:r>
              <a:rPr lang="en-US" b="0" i="0" u="none" strike="noStrike" dirty="0">
                <a:solidFill>
                  <a:srgbClr val="6327B7"/>
                </a:solidFill>
                <a:effectLst/>
                <a:latin typeface="Inter"/>
                <a:hlinkClick r:id="rId2"/>
              </a:rPr>
              <a:t> Yojana</a:t>
            </a:r>
            <a:r>
              <a:rPr lang="en-US" b="0" i="0" dirty="0">
                <a:solidFill>
                  <a:srgbClr val="414A53"/>
                </a:solidFill>
                <a:effectLst/>
                <a:latin typeface="Inter"/>
              </a:rPr>
              <a:t> in the year 2012 for the benefit of the state’s poor people. Lower middle-class families and those living below the poverty line are eligible for this cover.</a:t>
            </a:r>
          </a:p>
          <a:p>
            <a:pPr algn="l"/>
            <a:r>
              <a:rPr lang="en-US" b="0" i="0" dirty="0">
                <a:solidFill>
                  <a:srgbClr val="414A53"/>
                </a:solidFill>
                <a:effectLst/>
                <a:latin typeface="Inter"/>
              </a:rPr>
              <a:t>This scheme offers a cover of Rs. 3 lakhs for a year on a family floater basis. Treatment can be availed in different types of hospitals such as public hospitals, private hospitals, trust-based hospitals, Grant-in-Aid hospitals, etc.</a:t>
            </a:r>
          </a:p>
          <a:p>
            <a:endParaRPr lang="en-IN" dirty="0"/>
          </a:p>
        </p:txBody>
      </p:sp>
    </p:spTree>
    <p:extLst>
      <p:ext uri="{BB962C8B-B14F-4D97-AF65-F5344CB8AC3E}">
        <p14:creationId xmlns:p14="http://schemas.microsoft.com/office/powerpoint/2010/main" val="42623040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09982-C046-4082-A81F-D2149B54FC0C}"/>
              </a:ext>
            </a:extLst>
          </p:cNvPr>
          <p:cNvSpPr>
            <a:spLocks noGrp="1"/>
          </p:cNvSpPr>
          <p:nvPr>
            <p:ph type="ctrTitle"/>
          </p:nvPr>
        </p:nvSpPr>
        <p:spPr>
          <a:xfrm>
            <a:off x="351692" y="685801"/>
            <a:ext cx="11254154" cy="1072662"/>
          </a:xfrm>
        </p:spPr>
        <p:txBody>
          <a:bodyPr>
            <a:noAutofit/>
          </a:bodyPr>
          <a:lstStyle/>
          <a:p>
            <a:r>
              <a:rPr lang="fi-FI" sz="3600" b="0" i="0" dirty="0">
                <a:solidFill>
                  <a:srgbClr val="111111"/>
                </a:solidFill>
                <a:effectLst/>
                <a:latin typeface="Inter"/>
              </a:rPr>
              <a:t>Pradhan Mantri Suraksha Bima Yojana</a:t>
            </a:r>
            <a:br>
              <a:rPr lang="fi-FI" sz="3600" b="0" i="0" dirty="0">
                <a:solidFill>
                  <a:srgbClr val="111111"/>
                </a:solidFill>
                <a:effectLst/>
                <a:latin typeface="Inter"/>
              </a:rPr>
            </a:br>
            <a:endParaRPr lang="en-IN" sz="3600" dirty="0"/>
          </a:p>
        </p:txBody>
      </p:sp>
      <p:sp>
        <p:nvSpPr>
          <p:cNvPr id="3" name="Subtitle 2">
            <a:extLst>
              <a:ext uri="{FF2B5EF4-FFF2-40B4-BE49-F238E27FC236}">
                <a16:creationId xmlns:a16="http://schemas.microsoft.com/office/drawing/2014/main" id="{9B1E7234-EF28-4F4C-8B4E-952DF617F059}"/>
              </a:ext>
            </a:extLst>
          </p:cNvPr>
          <p:cNvSpPr>
            <a:spLocks noGrp="1"/>
          </p:cNvSpPr>
          <p:nvPr>
            <p:ph type="subTitle" idx="1"/>
          </p:nvPr>
        </p:nvSpPr>
        <p:spPr>
          <a:xfrm>
            <a:off x="351693" y="1758463"/>
            <a:ext cx="11254153" cy="3868615"/>
          </a:xfrm>
        </p:spPr>
        <p:txBody>
          <a:bodyPr/>
          <a:lstStyle/>
          <a:p>
            <a:pPr algn="l"/>
            <a:r>
              <a:rPr lang="en-US" b="0" i="0" dirty="0">
                <a:solidFill>
                  <a:srgbClr val="414A53"/>
                </a:solidFill>
                <a:effectLst/>
                <a:latin typeface="Inter"/>
              </a:rPr>
              <a:t>This scheme came into existence to offer accident insurance to the people of India. In 2016, it was observed that only 20% of the Indian citizens had an insurance cover. However, </a:t>
            </a:r>
            <a:r>
              <a:rPr lang="en-US" b="0" i="0" u="none" strike="noStrike" dirty="0">
                <a:solidFill>
                  <a:srgbClr val="6327B7"/>
                </a:solidFill>
                <a:effectLst/>
                <a:latin typeface="Inter"/>
                <a:hlinkClick r:id="rId2"/>
              </a:rPr>
              <a:t>Pradhan Mantri Suraksha </a:t>
            </a:r>
            <a:r>
              <a:rPr lang="en-US" b="0" i="0" u="none" strike="noStrike" dirty="0" err="1">
                <a:solidFill>
                  <a:srgbClr val="6327B7"/>
                </a:solidFill>
                <a:effectLst/>
                <a:latin typeface="Inter"/>
                <a:hlinkClick r:id="rId2"/>
              </a:rPr>
              <a:t>Bima</a:t>
            </a:r>
            <a:r>
              <a:rPr lang="en-US" b="0" i="0" u="none" strike="noStrike" dirty="0">
                <a:solidFill>
                  <a:srgbClr val="6327B7"/>
                </a:solidFill>
                <a:effectLst/>
                <a:latin typeface="Inter"/>
                <a:hlinkClick r:id="rId2"/>
              </a:rPr>
              <a:t> Yojana</a:t>
            </a:r>
            <a:r>
              <a:rPr lang="en-US" b="0" i="0" dirty="0">
                <a:solidFill>
                  <a:srgbClr val="414A53"/>
                </a:solidFill>
                <a:effectLst/>
                <a:latin typeface="Inter"/>
              </a:rPr>
              <a:t> aspires to change this statistic in a positive manner.</a:t>
            </a:r>
          </a:p>
          <a:p>
            <a:pPr algn="l"/>
            <a:r>
              <a:rPr lang="en-US" b="0" i="0" dirty="0">
                <a:solidFill>
                  <a:srgbClr val="414A53"/>
                </a:solidFill>
                <a:effectLst/>
                <a:latin typeface="Inter"/>
              </a:rPr>
              <a:t>People aged 18 to 70 and having a bank account can avail of the benefits of this scheme. This policy offers an annual cover of Rs. 1 lakh for partial disability and Rs. 2 lakhs for total disability/death for a premium of Rs. 12. The premium gets debited automatically from the insured person’s bank account.</a:t>
            </a:r>
          </a:p>
          <a:p>
            <a:endParaRPr lang="en-IN" dirty="0"/>
          </a:p>
        </p:txBody>
      </p:sp>
    </p:spTree>
    <p:extLst>
      <p:ext uri="{BB962C8B-B14F-4D97-AF65-F5344CB8AC3E}">
        <p14:creationId xmlns:p14="http://schemas.microsoft.com/office/powerpoint/2010/main" val="9101113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6BA0B-75C2-43D3-A3D3-175A23CD5858}"/>
              </a:ext>
            </a:extLst>
          </p:cNvPr>
          <p:cNvSpPr>
            <a:spLocks noGrp="1"/>
          </p:cNvSpPr>
          <p:nvPr>
            <p:ph type="ctrTitle"/>
          </p:nvPr>
        </p:nvSpPr>
        <p:spPr>
          <a:xfrm>
            <a:off x="386862" y="123092"/>
            <a:ext cx="11570676" cy="2039815"/>
          </a:xfrm>
        </p:spPr>
        <p:txBody>
          <a:bodyPr>
            <a:normAutofit fontScale="90000"/>
          </a:bodyPr>
          <a:lstStyle/>
          <a:p>
            <a:r>
              <a:rPr lang="en-US" b="0" i="0" dirty="0">
                <a:solidFill>
                  <a:srgbClr val="111111"/>
                </a:solidFill>
                <a:effectLst/>
                <a:latin typeface="Inter"/>
              </a:rPr>
              <a:t> </a:t>
            </a:r>
            <a:r>
              <a:rPr lang="en-US" sz="3600" b="0" i="0" dirty="0">
                <a:solidFill>
                  <a:srgbClr val="111111"/>
                </a:solidFill>
                <a:effectLst/>
                <a:latin typeface="Inter"/>
              </a:rPr>
              <a:t>Dr YSR </a:t>
            </a:r>
            <a:r>
              <a:rPr lang="en-US" sz="3600" b="0" i="0" dirty="0" err="1">
                <a:solidFill>
                  <a:srgbClr val="111111"/>
                </a:solidFill>
                <a:effectLst/>
                <a:latin typeface="Inter"/>
              </a:rPr>
              <a:t>Aarogyasri</a:t>
            </a:r>
            <a:r>
              <a:rPr lang="en-US" sz="3600" b="0" i="0" dirty="0">
                <a:solidFill>
                  <a:srgbClr val="111111"/>
                </a:solidFill>
                <a:effectLst/>
                <a:latin typeface="Inter"/>
              </a:rPr>
              <a:t> Health Care Trust Andhra Pradesh State Government</a:t>
            </a:r>
            <a:br>
              <a:rPr lang="en-US" b="0" i="0" dirty="0">
                <a:solidFill>
                  <a:srgbClr val="111111"/>
                </a:solidFill>
                <a:effectLst/>
                <a:latin typeface="Inter"/>
              </a:rPr>
            </a:br>
            <a:endParaRPr lang="en-IN" dirty="0"/>
          </a:p>
        </p:txBody>
      </p:sp>
      <p:sp>
        <p:nvSpPr>
          <p:cNvPr id="3" name="Subtitle 2">
            <a:extLst>
              <a:ext uri="{FF2B5EF4-FFF2-40B4-BE49-F238E27FC236}">
                <a16:creationId xmlns:a16="http://schemas.microsoft.com/office/drawing/2014/main" id="{88A6DE96-490E-40B8-9743-81D410DD8D2C}"/>
              </a:ext>
            </a:extLst>
          </p:cNvPr>
          <p:cNvSpPr>
            <a:spLocks noGrp="1"/>
          </p:cNvSpPr>
          <p:nvPr>
            <p:ph type="subTitle" idx="1"/>
          </p:nvPr>
        </p:nvSpPr>
        <p:spPr>
          <a:xfrm>
            <a:off x="386862" y="1705708"/>
            <a:ext cx="11570676" cy="4853354"/>
          </a:xfrm>
        </p:spPr>
        <p:txBody>
          <a:bodyPr>
            <a:normAutofit fontScale="92500" lnSpcReduction="10000"/>
          </a:bodyPr>
          <a:lstStyle/>
          <a:p>
            <a:r>
              <a:rPr lang="en-US" b="0" i="0" dirty="0">
                <a:solidFill>
                  <a:srgbClr val="414A53"/>
                </a:solidFill>
                <a:effectLst/>
                <a:latin typeface="Inter"/>
              </a:rPr>
              <a:t>The Andhra Pradesh Government along with the Dr YSR </a:t>
            </a:r>
            <a:r>
              <a:rPr lang="en-US" b="0" i="0" dirty="0" err="1">
                <a:solidFill>
                  <a:srgbClr val="414A53"/>
                </a:solidFill>
                <a:effectLst/>
                <a:latin typeface="Inter"/>
              </a:rPr>
              <a:t>Aarogyasri</a:t>
            </a:r>
            <a:r>
              <a:rPr lang="en-US" b="0" i="0" dirty="0">
                <a:solidFill>
                  <a:srgbClr val="414A53"/>
                </a:solidFill>
                <a:effectLst/>
                <a:latin typeface="Inter"/>
              </a:rPr>
              <a:t> Trust, which works for health care, has come up with four beneficial welfare schemes. These schemes cater to different people and assist them in time of need. </a:t>
            </a:r>
          </a:p>
          <a:p>
            <a:pPr algn="l"/>
            <a:r>
              <a:rPr lang="en-US" b="0" i="0" dirty="0">
                <a:solidFill>
                  <a:srgbClr val="414A53"/>
                </a:solidFill>
                <a:effectLst/>
                <a:latin typeface="Inter"/>
              </a:rPr>
              <a:t>Here are the four schemes:</a:t>
            </a:r>
          </a:p>
          <a:p>
            <a:pPr algn="l">
              <a:buFont typeface="+mj-lt"/>
              <a:buAutoNum type="arabicPeriod"/>
            </a:pPr>
            <a:r>
              <a:rPr lang="en-US" b="0" i="0" dirty="0">
                <a:solidFill>
                  <a:srgbClr val="414A53"/>
                </a:solidFill>
                <a:effectLst/>
                <a:latin typeface="Inter"/>
              </a:rPr>
              <a:t>Dr YSR </a:t>
            </a:r>
            <a:r>
              <a:rPr lang="en-US" b="0" i="0" dirty="0" err="1">
                <a:solidFill>
                  <a:srgbClr val="414A53"/>
                </a:solidFill>
                <a:effectLst/>
                <a:latin typeface="Inter"/>
              </a:rPr>
              <a:t>Aarogyasri</a:t>
            </a:r>
            <a:r>
              <a:rPr lang="en-US" b="0" i="0" dirty="0">
                <a:solidFill>
                  <a:srgbClr val="414A53"/>
                </a:solidFill>
                <a:effectLst/>
                <a:latin typeface="Inter"/>
              </a:rPr>
              <a:t> – This scheme is dedicated to the welfare of the poor.</a:t>
            </a:r>
          </a:p>
          <a:p>
            <a:pPr algn="l">
              <a:buFont typeface="+mj-lt"/>
              <a:buAutoNum type="arabicPeriod"/>
            </a:pPr>
            <a:r>
              <a:rPr lang="en-US" b="0" i="0" u="none" strike="noStrike" dirty="0" err="1">
                <a:solidFill>
                  <a:srgbClr val="6327B7"/>
                </a:solidFill>
                <a:effectLst/>
                <a:latin typeface="Inter"/>
                <a:hlinkClick r:id="rId2"/>
              </a:rPr>
              <a:t>Aarogya</a:t>
            </a:r>
            <a:r>
              <a:rPr lang="en-US" b="0" i="0" u="none" strike="noStrike" dirty="0">
                <a:solidFill>
                  <a:srgbClr val="6327B7"/>
                </a:solidFill>
                <a:effectLst/>
                <a:latin typeface="Inter"/>
                <a:hlinkClick r:id="rId2"/>
              </a:rPr>
              <a:t> Raksha</a:t>
            </a:r>
            <a:r>
              <a:rPr lang="en-US" b="0" i="0" dirty="0">
                <a:solidFill>
                  <a:srgbClr val="414A53"/>
                </a:solidFill>
                <a:effectLst/>
                <a:latin typeface="Inter"/>
              </a:rPr>
              <a:t> – This scheme is designed to benefit people Above Poverty Line (APL). </a:t>
            </a:r>
          </a:p>
          <a:p>
            <a:pPr algn="l">
              <a:buFont typeface="+mj-lt"/>
              <a:buAutoNum type="arabicPeriod"/>
            </a:pPr>
            <a:r>
              <a:rPr lang="en-US" b="0" i="0" u="none" strike="noStrike" dirty="0">
                <a:solidFill>
                  <a:srgbClr val="6327B7"/>
                </a:solidFill>
                <a:effectLst/>
                <a:latin typeface="Inter"/>
                <a:hlinkClick r:id="rId3"/>
              </a:rPr>
              <a:t>Working Journalist Health Scheme</a:t>
            </a:r>
            <a:r>
              <a:rPr lang="en-US" b="0" i="0" dirty="0">
                <a:solidFill>
                  <a:srgbClr val="414A53"/>
                </a:solidFill>
                <a:effectLst/>
                <a:latin typeface="Inter"/>
              </a:rPr>
              <a:t> – This scheme is for journalists and it offers cashless treatment in case of listed procedures. </a:t>
            </a:r>
          </a:p>
          <a:p>
            <a:pPr algn="l">
              <a:buFont typeface="+mj-lt"/>
              <a:buAutoNum type="arabicPeriod"/>
            </a:pPr>
            <a:r>
              <a:rPr lang="en-US" b="0" i="0" u="none" strike="noStrike" dirty="0">
                <a:solidFill>
                  <a:srgbClr val="6327B7"/>
                </a:solidFill>
                <a:effectLst/>
                <a:latin typeface="Inter"/>
                <a:hlinkClick r:id="rId4"/>
              </a:rPr>
              <a:t>Employee Health Scheme</a:t>
            </a:r>
            <a:r>
              <a:rPr lang="en-US" b="0" i="0" dirty="0">
                <a:solidFill>
                  <a:srgbClr val="414A53"/>
                </a:solidFill>
                <a:effectLst/>
                <a:latin typeface="Inter"/>
              </a:rPr>
              <a:t> – This scheme is for the benefit of state government employees.</a:t>
            </a:r>
          </a:p>
          <a:p>
            <a:endParaRPr lang="en-IN" dirty="0"/>
          </a:p>
        </p:txBody>
      </p:sp>
    </p:spTree>
    <p:extLst>
      <p:ext uri="{BB962C8B-B14F-4D97-AF65-F5344CB8AC3E}">
        <p14:creationId xmlns:p14="http://schemas.microsoft.com/office/powerpoint/2010/main" val="5922460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E054F-ADE9-41FF-B989-B1557451CF2A}"/>
              </a:ext>
            </a:extLst>
          </p:cNvPr>
          <p:cNvSpPr>
            <a:spLocks noGrp="1"/>
          </p:cNvSpPr>
          <p:nvPr>
            <p:ph type="ctrTitle"/>
          </p:nvPr>
        </p:nvSpPr>
        <p:spPr>
          <a:xfrm>
            <a:off x="246185" y="316523"/>
            <a:ext cx="11482753" cy="1655762"/>
          </a:xfrm>
        </p:spPr>
        <p:txBody>
          <a:bodyPr>
            <a:noAutofit/>
          </a:bodyPr>
          <a:lstStyle/>
          <a:p>
            <a:r>
              <a:rPr lang="en-US" sz="3600" b="0" i="0" dirty="0">
                <a:solidFill>
                  <a:srgbClr val="111111"/>
                </a:solidFill>
                <a:effectLst/>
                <a:latin typeface="Inter"/>
              </a:rPr>
              <a:t>Telangana State Government – Employees and Journalists Health Scheme</a:t>
            </a:r>
            <a:br>
              <a:rPr lang="en-US" sz="3600" b="0" i="0" dirty="0">
                <a:solidFill>
                  <a:srgbClr val="111111"/>
                </a:solidFill>
                <a:effectLst/>
                <a:latin typeface="Inter"/>
              </a:rPr>
            </a:br>
            <a:endParaRPr lang="en-IN" sz="3600" dirty="0"/>
          </a:p>
        </p:txBody>
      </p:sp>
      <p:sp>
        <p:nvSpPr>
          <p:cNvPr id="3" name="Subtitle 2">
            <a:extLst>
              <a:ext uri="{FF2B5EF4-FFF2-40B4-BE49-F238E27FC236}">
                <a16:creationId xmlns:a16="http://schemas.microsoft.com/office/drawing/2014/main" id="{E73C3995-5BC6-4D34-9A4A-6ECD6F3BA20C}"/>
              </a:ext>
            </a:extLst>
          </p:cNvPr>
          <p:cNvSpPr>
            <a:spLocks noGrp="1"/>
          </p:cNvSpPr>
          <p:nvPr>
            <p:ph type="subTitle" idx="1"/>
          </p:nvPr>
        </p:nvSpPr>
        <p:spPr>
          <a:xfrm>
            <a:off x="246185" y="1828800"/>
            <a:ext cx="11482753" cy="3956538"/>
          </a:xfrm>
        </p:spPr>
        <p:txBody>
          <a:bodyPr>
            <a:normAutofit/>
          </a:bodyPr>
          <a:lstStyle/>
          <a:p>
            <a:pPr algn="l"/>
            <a:r>
              <a:rPr lang="en-US" b="0" i="0" dirty="0">
                <a:solidFill>
                  <a:srgbClr val="414A53"/>
                </a:solidFill>
                <a:effectLst/>
                <a:latin typeface="Inter"/>
              </a:rPr>
              <a:t>This health scheme is offered by the Telangana Government for its employees and journalists. It is beneficial for those who are currently working as well as those who have retired and are pensioners. The highlight of this scheme is the cashless treatment.</a:t>
            </a:r>
          </a:p>
          <a:p>
            <a:pPr algn="l"/>
            <a:r>
              <a:rPr lang="en-US" b="0" i="0" dirty="0">
                <a:solidFill>
                  <a:srgbClr val="414A53"/>
                </a:solidFill>
                <a:effectLst/>
                <a:latin typeface="Inter"/>
              </a:rPr>
              <a:t>Beneficiaries can approach hospitals that are a part of this scheme and avail cashless treatment for certain treatments as per the terms and conditions. This helps the beneficiaries as they do not have to rush to gather funds for medical expenses in an emergency</a:t>
            </a:r>
          </a:p>
          <a:p>
            <a:endParaRPr lang="en-IN" dirty="0"/>
          </a:p>
        </p:txBody>
      </p:sp>
    </p:spTree>
    <p:extLst>
      <p:ext uri="{BB962C8B-B14F-4D97-AF65-F5344CB8AC3E}">
        <p14:creationId xmlns:p14="http://schemas.microsoft.com/office/powerpoint/2010/main" val="5549161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BE2F5-2700-42B4-ACDC-2B0789D23D00}"/>
              </a:ext>
            </a:extLst>
          </p:cNvPr>
          <p:cNvSpPr>
            <a:spLocks noGrp="1"/>
          </p:cNvSpPr>
          <p:nvPr>
            <p:ph type="ctrTitle"/>
          </p:nvPr>
        </p:nvSpPr>
        <p:spPr>
          <a:xfrm>
            <a:off x="193431" y="509953"/>
            <a:ext cx="11641015" cy="1336432"/>
          </a:xfrm>
        </p:spPr>
        <p:txBody>
          <a:bodyPr>
            <a:normAutofit fontScale="90000"/>
          </a:bodyPr>
          <a:lstStyle/>
          <a:p>
            <a:r>
              <a:rPr lang="en-IN" sz="3600" b="0" i="0" dirty="0" err="1">
                <a:solidFill>
                  <a:srgbClr val="111111"/>
                </a:solidFill>
                <a:effectLst/>
                <a:latin typeface="Inter"/>
              </a:rPr>
              <a:t>Rashtriya</a:t>
            </a:r>
            <a:r>
              <a:rPr lang="en-IN" sz="3600" b="0" i="0" dirty="0">
                <a:solidFill>
                  <a:srgbClr val="111111"/>
                </a:solidFill>
                <a:effectLst/>
                <a:latin typeface="Inter"/>
              </a:rPr>
              <a:t> </a:t>
            </a:r>
            <a:r>
              <a:rPr lang="en-IN" sz="3600" b="0" i="0" dirty="0" err="1">
                <a:solidFill>
                  <a:srgbClr val="111111"/>
                </a:solidFill>
                <a:effectLst/>
                <a:latin typeface="Inter"/>
              </a:rPr>
              <a:t>Swasthya</a:t>
            </a:r>
            <a:r>
              <a:rPr lang="en-IN" sz="3600" b="0" i="0" dirty="0">
                <a:solidFill>
                  <a:srgbClr val="111111"/>
                </a:solidFill>
                <a:effectLst/>
                <a:latin typeface="Inter"/>
              </a:rPr>
              <a:t> </a:t>
            </a:r>
            <a:r>
              <a:rPr lang="en-IN" sz="3600" b="0" i="0" dirty="0" err="1">
                <a:solidFill>
                  <a:srgbClr val="111111"/>
                </a:solidFill>
                <a:effectLst/>
                <a:latin typeface="Inter"/>
              </a:rPr>
              <a:t>Bima</a:t>
            </a:r>
            <a:r>
              <a:rPr lang="en-IN" sz="3600" b="0" i="0" dirty="0">
                <a:solidFill>
                  <a:srgbClr val="111111"/>
                </a:solidFill>
                <a:effectLst/>
                <a:latin typeface="Inter"/>
              </a:rPr>
              <a:t> Yojana</a:t>
            </a:r>
            <a:br>
              <a:rPr lang="en-IN" b="0" i="0" dirty="0">
                <a:solidFill>
                  <a:srgbClr val="111111"/>
                </a:solidFill>
                <a:effectLst/>
                <a:latin typeface="Inter"/>
              </a:rPr>
            </a:br>
            <a:endParaRPr lang="en-IN" dirty="0"/>
          </a:p>
        </p:txBody>
      </p:sp>
      <p:sp>
        <p:nvSpPr>
          <p:cNvPr id="3" name="Subtitle 2">
            <a:extLst>
              <a:ext uri="{FF2B5EF4-FFF2-40B4-BE49-F238E27FC236}">
                <a16:creationId xmlns:a16="http://schemas.microsoft.com/office/drawing/2014/main" id="{AA75B24A-0F20-485B-800E-EA2A661298AC}"/>
              </a:ext>
            </a:extLst>
          </p:cNvPr>
          <p:cNvSpPr>
            <a:spLocks noGrp="1"/>
          </p:cNvSpPr>
          <p:nvPr>
            <p:ph type="subTitle" idx="1"/>
          </p:nvPr>
        </p:nvSpPr>
        <p:spPr>
          <a:xfrm>
            <a:off x="357554" y="1705708"/>
            <a:ext cx="11476892" cy="4009292"/>
          </a:xfrm>
        </p:spPr>
        <p:txBody>
          <a:bodyPr>
            <a:normAutofit/>
          </a:bodyPr>
          <a:lstStyle/>
          <a:p>
            <a:pPr algn="l"/>
            <a:r>
              <a:rPr lang="en-US" b="0" i="0" dirty="0">
                <a:solidFill>
                  <a:srgbClr val="414A53"/>
                </a:solidFill>
                <a:effectLst/>
                <a:latin typeface="Inter"/>
              </a:rPr>
              <a:t>This scheme is directed towards people working in the unorganized sector. Often, they are not covered under any insurance policy. And in such a scenario, if they fall ill – which happens frequently – their savings get exhausted. Thus, they are never able to ensure they have savings in the bank. This is where health insurance can prove helpful to them.</a:t>
            </a:r>
          </a:p>
          <a:p>
            <a:pPr algn="l"/>
            <a:r>
              <a:rPr lang="en-US" b="0" i="0" u="none" strike="noStrike" dirty="0" err="1">
                <a:solidFill>
                  <a:srgbClr val="6327B7"/>
                </a:solidFill>
                <a:effectLst/>
                <a:latin typeface="Inter"/>
                <a:hlinkClick r:id="rId2"/>
              </a:rPr>
              <a:t>Rashtriya</a:t>
            </a:r>
            <a:r>
              <a:rPr lang="en-US" b="0" i="0" u="none" strike="noStrike" dirty="0">
                <a:solidFill>
                  <a:srgbClr val="6327B7"/>
                </a:solidFill>
                <a:effectLst/>
                <a:latin typeface="Inter"/>
                <a:hlinkClick r:id="rId2"/>
              </a:rPr>
              <a:t> </a:t>
            </a:r>
            <a:r>
              <a:rPr lang="en-US" b="0" i="0" u="none" strike="noStrike" dirty="0" err="1">
                <a:solidFill>
                  <a:srgbClr val="6327B7"/>
                </a:solidFill>
                <a:effectLst/>
                <a:latin typeface="Inter"/>
                <a:hlinkClick r:id="rId2"/>
              </a:rPr>
              <a:t>Swasthya</a:t>
            </a:r>
            <a:r>
              <a:rPr lang="en-US" b="0" i="0" u="none" strike="noStrike" dirty="0">
                <a:solidFill>
                  <a:srgbClr val="6327B7"/>
                </a:solidFill>
                <a:effectLst/>
                <a:latin typeface="Inter"/>
                <a:hlinkClick r:id="rId2"/>
              </a:rPr>
              <a:t> </a:t>
            </a:r>
            <a:r>
              <a:rPr lang="en-US" b="0" i="0" u="none" strike="noStrike" dirty="0" err="1">
                <a:solidFill>
                  <a:srgbClr val="6327B7"/>
                </a:solidFill>
                <a:effectLst/>
                <a:latin typeface="Inter"/>
                <a:hlinkClick r:id="rId2"/>
              </a:rPr>
              <a:t>Bima</a:t>
            </a:r>
            <a:r>
              <a:rPr lang="en-US" b="0" i="0" u="none" strike="noStrike" dirty="0">
                <a:solidFill>
                  <a:srgbClr val="6327B7"/>
                </a:solidFill>
                <a:effectLst/>
                <a:latin typeface="Inter"/>
                <a:hlinkClick r:id="rId2"/>
              </a:rPr>
              <a:t> Yojana</a:t>
            </a:r>
            <a:r>
              <a:rPr lang="en-US" b="0" i="0" dirty="0">
                <a:solidFill>
                  <a:srgbClr val="414A53"/>
                </a:solidFill>
                <a:effectLst/>
                <a:latin typeface="Inter"/>
              </a:rPr>
              <a:t> is initiated by the Indian Government’s Ministry of </a:t>
            </a:r>
            <a:r>
              <a:rPr lang="en-US" b="0" i="0" dirty="0" err="1">
                <a:solidFill>
                  <a:srgbClr val="414A53"/>
                </a:solidFill>
                <a:effectLst/>
                <a:latin typeface="Inter"/>
              </a:rPr>
              <a:t>Labour</a:t>
            </a:r>
            <a:r>
              <a:rPr lang="en-US" b="0" i="0" dirty="0">
                <a:solidFill>
                  <a:srgbClr val="414A53"/>
                </a:solidFill>
                <a:effectLst/>
                <a:latin typeface="Inter"/>
              </a:rPr>
              <a:t> and Employment. Individuals workers in the unorganized sector and below the poverty line are covered under this scheme. The cover also extends to their family (maximum of five members).</a:t>
            </a:r>
          </a:p>
          <a:p>
            <a:endParaRPr lang="en-IN" dirty="0"/>
          </a:p>
        </p:txBody>
      </p:sp>
    </p:spTree>
    <p:extLst>
      <p:ext uri="{BB962C8B-B14F-4D97-AF65-F5344CB8AC3E}">
        <p14:creationId xmlns:p14="http://schemas.microsoft.com/office/powerpoint/2010/main" val="26889271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732DF-23A4-45DE-9EF3-7C4A4A0C3435}"/>
              </a:ext>
            </a:extLst>
          </p:cNvPr>
          <p:cNvSpPr>
            <a:spLocks noGrp="1"/>
          </p:cNvSpPr>
          <p:nvPr>
            <p:ph type="ctrTitle"/>
          </p:nvPr>
        </p:nvSpPr>
        <p:spPr>
          <a:xfrm>
            <a:off x="363415" y="386861"/>
            <a:ext cx="11465169" cy="1213339"/>
          </a:xfrm>
        </p:spPr>
        <p:txBody>
          <a:bodyPr>
            <a:normAutofit fontScale="90000"/>
          </a:bodyPr>
          <a:lstStyle/>
          <a:p>
            <a:r>
              <a:rPr lang="en-IN" sz="3600" b="0" i="0" dirty="0">
                <a:solidFill>
                  <a:srgbClr val="111111"/>
                </a:solidFill>
                <a:effectLst/>
                <a:latin typeface="Inter"/>
              </a:rPr>
              <a:t>Universal Health Insurance Scheme</a:t>
            </a:r>
            <a:br>
              <a:rPr lang="en-IN" b="0" i="0" dirty="0">
                <a:solidFill>
                  <a:srgbClr val="111111"/>
                </a:solidFill>
                <a:effectLst/>
                <a:latin typeface="Inter"/>
              </a:rPr>
            </a:br>
            <a:endParaRPr lang="en-IN" dirty="0"/>
          </a:p>
        </p:txBody>
      </p:sp>
      <p:sp>
        <p:nvSpPr>
          <p:cNvPr id="3" name="Subtitle 2">
            <a:extLst>
              <a:ext uri="{FF2B5EF4-FFF2-40B4-BE49-F238E27FC236}">
                <a16:creationId xmlns:a16="http://schemas.microsoft.com/office/drawing/2014/main" id="{4FE68CAD-1D51-4CA2-9081-062E8A283F91}"/>
              </a:ext>
            </a:extLst>
          </p:cNvPr>
          <p:cNvSpPr>
            <a:spLocks noGrp="1"/>
          </p:cNvSpPr>
          <p:nvPr>
            <p:ph type="subTitle" idx="1"/>
          </p:nvPr>
        </p:nvSpPr>
        <p:spPr>
          <a:xfrm>
            <a:off x="615462" y="1283677"/>
            <a:ext cx="10744200" cy="4536831"/>
          </a:xfrm>
        </p:spPr>
        <p:txBody>
          <a:bodyPr>
            <a:normAutofit/>
          </a:bodyPr>
          <a:lstStyle/>
          <a:p>
            <a:pPr algn="l"/>
            <a:r>
              <a:rPr lang="en-US" b="0" i="0" dirty="0">
                <a:solidFill>
                  <a:srgbClr val="414A53"/>
                </a:solidFill>
                <a:effectLst/>
                <a:latin typeface="Inter"/>
              </a:rPr>
              <a:t>Globally, a lot of developed and developing nations have some sort of health care schemes for the benefit of their poor people. In India, the </a:t>
            </a:r>
            <a:r>
              <a:rPr lang="en-US" b="0" i="0" u="none" strike="noStrike" dirty="0">
                <a:solidFill>
                  <a:srgbClr val="6327B7"/>
                </a:solidFill>
                <a:effectLst/>
                <a:latin typeface="Inter"/>
                <a:hlinkClick r:id="rId2"/>
              </a:rPr>
              <a:t>Universal Health Insurance Scheme</a:t>
            </a:r>
            <a:r>
              <a:rPr lang="en-US" b="0" i="0" dirty="0">
                <a:solidFill>
                  <a:srgbClr val="414A53"/>
                </a:solidFill>
                <a:effectLst/>
                <a:latin typeface="Inter"/>
              </a:rPr>
              <a:t> aspires to do that and much more. This scheme can be availed by the poorest of the poor in the age group of 5 to 70 years.</a:t>
            </a:r>
          </a:p>
          <a:p>
            <a:pPr algn="l"/>
            <a:r>
              <a:rPr lang="en-US" b="0" i="0" dirty="0">
                <a:solidFill>
                  <a:srgbClr val="414A53"/>
                </a:solidFill>
                <a:effectLst/>
                <a:latin typeface="Inter"/>
              </a:rPr>
              <a:t>Universal Health Insurance Scheme offers individual as well as </a:t>
            </a:r>
            <a:r>
              <a:rPr lang="en-US" b="0" i="0" u="none" strike="noStrike" dirty="0">
                <a:solidFill>
                  <a:srgbClr val="6327B7"/>
                </a:solidFill>
                <a:effectLst/>
                <a:latin typeface="Inter"/>
                <a:hlinkClick r:id="rId3"/>
              </a:rPr>
              <a:t>group health insurance</a:t>
            </a:r>
            <a:r>
              <a:rPr lang="en-US" b="0" i="0" dirty="0">
                <a:solidFill>
                  <a:srgbClr val="414A53"/>
                </a:solidFill>
                <a:effectLst/>
                <a:latin typeface="Inter"/>
              </a:rPr>
              <a:t>. It covers hospitalization, accident, and disability. The premium varies as per the size of the family. Those falling under the poverty line need to show proper documentation to avail the policy.</a:t>
            </a:r>
          </a:p>
          <a:p>
            <a:endParaRPr lang="en-IN" dirty="0"/>
          </a:p>
        </p:txBody>
      </p:sp>
    </p:spTree>
    <p:extLst>
      <p:ext uri="{BB962C8B-B14F-4D97-AF65-F5344CB8AC3E}">
        <p14:creationId xmlns:p14="http://schemas.microsoft.com/office/powerpoint/2010/main" val="8543318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441F8-8B9B-458B-892D-06ED6BACC598}"/>
              </a:ext>
            </a:extLst>
          </p:cNvPr>
          <p:cNvSpPr>
            <a:spLocks noGrp="1"/>
          </p:cNvSpPr>
          <p:nvPr>
            <p:ph type="ctrTitle"/>
          </p:nvPr>
        </p:nvSpPr>
        <p:spPr>
          <a:xfrm>
            <a:off x="386862" y="334108"/>
            <a:ext cx="11342076" cy="1655763"/>
          </a:xfrm>
        </p:spPr>
        <p:txBody>
          <a:bodyPr>
            <a:normAutofit/>
          </a:bodyPr>
          <a:lstStyle/>
          <a:p>
            <a:r>
              <a:rPr lang="en-IN" sz="3600" b="0" i="0" dirty="0" err="1">
                <a:solidFill>
                  <a:srgbClr val="111111"/>
                </a:solidFill>
                <a:effectLst/>
                <a:latin typeface="Inter"/>
              </a:rPr>
              <a:t>Yeshasvini</a:t>
            </a:r>
            <a:r>
              <a:rPr lang="en-IN" sz="3600" b="0" i="0" dirty="0">
                <a:solidFill>
                  <a:srgbClr val="111111"/>
                </a:solidFill>
                <a:effectLst/>
                <a:latin typeface="Inter"/>
              </a:rPr>
              <a:t> Health Insurance Scheme</a:t>
            </a:r>
            <a:br>
              <a:rPr lang="en-IN" b="0" i="0" dirty="0">
                <a:solidFill>
                  <a:srgbClr val="111111"/>
                </a:solidFill>
                <a:effectLst/>
                <a:latin typeface="Inter"/>
              </a:rPr>
            </a:br>
            <a:endParaRPr lang="en-IN" dirty="0"/>
          </a:p>
        </p:txBody>
      </p:sp>
      <p:sp>
        <p:nvSpPr>
          <p:cNvPr id="3" name="Subtitle 2">
            <a:extLst>
              <a:ext uri="{FF2B5EF4-FFF2-40B4-BE49-F238E27FC236}">
                <a16:creationId xmlns:a16="http://schemas.microsoft.com/office/drawing/2014/main" id="{368BFBD9-5F13-4CEC-9C6F-4ABBD0CC349F}"/>
              </a:ext>
            </a:extLst>
          </p:cNvPr>
          <p:cNvSpPr>
            <a:spLocks noGrp="1"/>
          </p:cNvSpPr>
          <p:nvPr>
            <p:ph type="subTitle" idx="1"/>
          </p:nvPr>
        </p:nvSpPr>
        <p:spPr>
          <a:xfrm>
            <a:off x="386862" y="1566435"/>
            <a:ext cx="11342076" cy="3725129"/>
          </a:xfrm>
        </p:spPr>
        <p:txBody>
          <a:bodyPr>
            <a:normAutofit/>
          </a:bodyPr>
          <a:lstStyle/>
          <a:p>
            <a:pPr algn="l"/>
            <a:r>
              <a:rPr lang="en-US" b="0" i="0" dirty="0">
                <a:solidFill>
                  <a:srgbClr val="414A53"/>
                </a:solidFill>
                <a:effectLst/>
                <a:latin typeface="Inter"/>
              </a:rPr>
              <a:t>The </a:t>
            </a:r>
            <a:r>
              <a:rPr lang="en-US" b="0" i="0" dirty="0" err="1">
                <a:solidFill>
                  <a:srgbClr val="414A53"/>
                </a:solidFill>
                <a:effectLst/>
                <a:latin typeface="Inter"/>
              </a:rPr>
              <a:t>Yeshasvini</a:t>
            </a:r>
            <a:r>
              <a:rPr lang="en-US" b="0" i="0" dirty="0">
                <a:solidFill>
                  <a:srgbClr val="414A53"/>
                </a:solidFill>
                <a:effectLst/>
                <a:latin typeface="Inter"/>
              </a:rPr>
              <a:t> Health Insurance Scheme is promoted by the Karnataka State Government. It is meant for farmers and peasants associated with a co-operative society. More than 800 procedures (</a:t>
            </a:r>
            <a:r>
              <a:rPr lang="en-US" b="0" i="0" dirty="0" err="1">
                <a:solidFill>
                  <a:srgbClr val="414A53"/>
                </a:solidFill>
                <a:effectLst/>
                <a:latin typeface="Inter"/>
              </a:rPr>
              <a:t>Orthopaedic</a:t>
            </a:r>
            <a:r>
              <a:rPr lang="en-US" b="0" i="0" dirty="0">
                <a:solidFill>
                  <a:srgbClr val="414A53"/>
                </a:solidFill>
                <a:effectLst/>
                <a:latin typeface="Inter"/>
              </a:rPr>
              <a:t>, Neurology, Angioplasty, etc.) are covered as per this insurance policy.</a:t>
            </a:r>
          </a:p>
          <a:p>
            <a:pPr algn="l"/>
            <a:r>
              <a:rPr lang="en-US" b="0" i="0" dirty="0">
                <a:solidFill>
                  <a:srgbClr val="414A53"/>
                </a:solidFill>
                <a:effectLst/>
                <a:latin typeface="Inter"/>
              </a:rPr>
              <a:t>Co-operative societies help the peasants and farmers to get enrolled in the </a:t>
            </a:r>
            <a:r>
              <a:rPr lang="en-US" b="0" i="0" dirty="0" err="1">
                <a:solidFill>
                  <a:srgbClr val="414A53"/>
                </a:solidFill>
                <a:effectLst/>
                <a:latin typeface="Inter"/>
              </a:rPr>
              <a:t>Yeshasvini</a:t>
            </a:r>
            <a:r>
              <a:rPr lang="en-US" b="0" i="0" dirty="0">
                <a:solidFill>
                  <a:srgbClr val="414A53"/>
                </a:solidFill>
                <a:effectLst/>
                <a:latin typeface="Inter"/>
              </a:rPr>
              <a:t> Health Insurance Scheme. The beneficiaries can avail health care through network hospitals. The scheme extends its benefits to the family members of the main beneficiary as well.</a:t>
            </a:r>
          </a:p>
          <a:p>
            <a:endParaRPr lang="en-IN" dirty="0"/>
          </a:p>
        </p:txBody>
      </p:sp>
    </p:spTree>
    <p:extLst>
      <p:ext uri="{BB962C8B-B14F-4D97-AF65-F5344CB8AC3E}">
        <p14:creationId xmlns:p14="http://schemas.microsoft.com/office/powerpoint/2010/main" val="6936062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1841B-72DB-4529-AED1-19E4D127484D}"/>
              </a:ext>
            </a:extLst>
          </p:cNvPr>
          <p:cNvSpPr>
            <a:spLocks noGrp="1"/>
          </p:cNvSpPr>
          <p:nvPr>
            <p:ph type="ctrTitle"/>
          </p:nvPr>
        </p:nvSpPr>
        <p:spPr>
          <a:xfrm>
            <a:off x="422031" y="281355"/>
            <a:ext cx="11412415" cy="1318846"/>
          </a:xfrm>
        </p:spPr>
        <p:txBody>
          <a:bodyPr>
            <a:normAutofit/>
          </a:bodyPr>
          <a:lstStyle/>
          <a:p>
            <a:r>
              <a:rPr lang="en-IN" sz="3600" b="0" i="0" dirty="0">
                <a:solidFill>
                  <a:srgbClr val="111111"/>
                </a:solidFill>
                <a:effectLst/>
                <a:latin typeface="Inter"/>
              </a:rPr>
              <a:t>West Bengal Health Scheme</a:t>
            </a:r>
            <a:br>
              <a:rPr lang="en-IN" sz="3600" b="0" i="0" dirty="0">
                <a:solidFill>
                  <a:srgbClr val="111111"/>
                </a:solidFill>
                <a:effectLst/>
                <a:latin typeface="Inter"/>
              </a:rPr>
            </a:br>
            <a:endParaRPr lang="en-IN" sz="3600" dirty="0"/>
          </a:p>
        </p:txBody>
      </p:sp>
      <p:sp>
        <p:nvSpPr>
          <p:cNvPr id="3" name="Subtitle 2">
            <a:extLst>
              <a:ext uri="{FF2B5EF4-FFF2-40B4-BE49-F238E27FC236}">
                <a16:creationId xmlns:a16="http://schemas.microsoft.com/office/drawing/2014/main" id="{835E0469-9EEB-4B8D-A717-9624A2E0EB4F}"/>
              </a:ext>
            </a:extLst>
          </p:cNvPr>
          <p:cNvSpPr>
            <a:spLocks noGrp="1"/>
          </p:cNvSpPr>
          <p:nvPr>
            <p:ph type="subTitle" idx="1"/>
          </p:nvPr>
        </p:nvSpPr>
        <p:spPr>
          <a:xfrm>
            <a:off x="422031" y="1600201"/>
            <a:ext cx="11131061" cy="4378569"/>
          </a:xfrm>
        </p:spPr>
        <p:txBody>
          <a:bodyPr>
            <a:normAutofit/>
          </a:bodyPr>
          <a:lstStyle/>
          <a:p>
            <a:pPr algn="l"/>
            <a:r>
              <a:rPr lang="en-US" b="0" i="0" dirty="0">
                <a:solidFill>
                  <a:srgbClr val="414A53"/>
                </a:solidFill>
                <a:effectLst/>
                <a:latin typeface="Inter"/>
              </a:rPr>
              <a:t>This scheme was launched by the Government of West Bengal for its employees in the year 2008. It is also applicable for pensioners. It received an update in the year 2014 and was called </a:t>
            </a:r>
            <a:r>
              <a:rPr lang="en-US" b="0" i="0" u="none" strike="noStrike" dirty="0">
                <a:solidFill>
                  <a:srgbClr val="6327B7"/>
                </a:solidFill>
                <a:effectLst/>
                <a:latin typeface="Inter"/>
                <a:hlinkClick r:id="rId2"/>
              </a:rPr>
              <a:t>West Bengal Health for All Employees and Pensioners</a:t>
            </a:r>
            <a:r>
              <a:rPr lang="en-US" b="0" i="0" dirty="0">
                <a:solidFill>
                  <a:srgbClr val="414A53"/>
                </a:solidFill>
                <a:effectLst/>
                <a:latin typeface="Inter"/>
              </a:rPr>
              <a:t> Cashless Medical Treatment Scheme.</a:t>
            </a:r>
          </a:p>
          <a:p>
            <a:pPr algn="l"/>
            <a:r>
              <a:rPr lang="en-US" b="0" i="0" dirty="0">
                <a:solidFill>
                  <a:srgbClr val="414A53"/>
                </a:solidFill>
                <a:effectLst/>
                <a:latin typeface="Inter"/>
              </a:rPr>
              <a:t>This cover is for an individual as well as the family members and the sum insured is Rs. 1 lakh. The policy covers OPD and surgeries as per the terms and conditions. Its exceptions include cosmetic surgeries and non-emergency procedures.</a:t>
            </a:r>
          </a:p>
          <a:p>
            <a:endParaRPr lang="en-IN" dirty="0"/>
          </a:p>
        </p:txBody>
      </p:sp>
    </p:spTree>
    <p:extLst>
      <p:ext uri="{BB962C8B-B14F-4D97-AF65-F5344CB8AC3E}">
        <p14:creationId xmlns:p14="http://schemas.microsoft.com/office/powerpoint/2010/main" val="2577143645"/>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25</TotalTime>
  <Words>1921</Words>
  <Application>Microsoft Office PowerPoint</Application>
  <PresentationFormat>Widescreen</PresentationFormat>
  <Paragraphs>56</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Calibri</vt:lpstr>
      <vt:lpstr>Calibri Light</vt:lpstr>
      <vt:lpstr>Inter</vt:lpstr>
      <vt:lpstr>Retrospect</vt:lpstr>
      <vt:lpstr>List of 16 Government Health Insurance Schemes in India: </vt:lpstr>
      <vt:lpstr>Ayushman Bharat </vt:lpstr>
      <vt:lpstr>Awaz Health Insurance Scheme </vt:lpstr>
      <vt:lpstr>Aam Aadmi Bima Yojana </vt:lpstr>
      <vt:lpstr>Bhamashah Swasthya Bima Yojana </vt:lpstr>
      <vt:lpstr>Central Government Health Scheme (CGHS) </vt:lpstr>
      <vt:lpstr>Chief Minister’s Comprehensive Insurance Scheme </vt:lpstr>
      <vt:lpstr>Employees’ State Insurance Scheme </vt:lpstr>
      <vt:lpstr>Karunya Health Scheme </vt:lpstr>
      <vt:lpstr>Mahatma Jyotiba Phule Jan Arogya Yojana</vt:lpstr>
      <vt:lpstr> Mukhyamantri Amrutum Yojana </vt:lpstr>
      <vt:lpstr>Pradhan Mantri Suraksha Bima Yojana </vt:lpstr>
      <vt:lpstr> Dr YSR Aarogyasri Health Care Trust Andhra Pradesh State Government </vt:lpstr>
      <vt:lpstr>Telangana State Government – Employees and Journalists Health Scheme </vt:lpstr>
      <vt:lpstr>Rashtriya Swasthya Bima Yojana </vt:lpstr>
      <vt:lpstr>Universal Health Insurance Scheme </vt:lpstr>
      <vt:lpstr>Yeshasvini Health Insurance Scheme </vt:lpstr>
      <vt:lpstr>West Bengal Health Scheme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Ayushman Bharat</dc:title>
  <dc:creator>NIKITA DÇOSTA</dc:creator>
  <cp:lastModifiedBy>NIKITA DÇOSTA</cp:lastModifiedBy>
  <cp:revision>3</cp:revision>
  <dcterms:created xsi:type="dcterms:W3CDTF">2021-03-27T07:21:47Z</dcterms:created>
  <dcterms:modified xsi:type="dcterms:W3CDTF">2021-03-27T07:46:50Z</dcterms:modified>
</cp:coreProperties>
</file>