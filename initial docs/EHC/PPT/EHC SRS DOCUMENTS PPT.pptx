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99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52110A53-9588-4E91-8C1A-265F886A3DBB}" type="datetimeFigureOut">
              <a:rPr lang="en-IN" smtClean="0"/>
              <a:t>31-08-2021</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1075B0D9-9D87-44AA-9D35-652D66321889}" type="slidenum">
              <a:rPr lang="en-IN" smtClean="0"/>
              <a:t>‹#›</a:t>
            </a:fld>
            <a:endParaRPr lang="en-IN"/>
          </a:p>
        </p:txBody>
      </p:sp>
    </p:spTree>
    <p:extLst>
      <p:ext uri="{BB962C8B-B14F-4D97-AF65-F5344CB8AC3E}">
        <p14:creationId xmlns:p14="http://schemas.microsoft.com/office/powerpoint/2010/main" val="1363691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110A53-9588-4E91-8C1A-265F886A3DBB}" type="datetimeFigureOut">
              <a:rPr lang="en-IN" smtClean="0"/>
              <a:t>31-08-2021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75B0D9-9D87-44AA-9D35-652D66321889}" type="slidenum">
              <a:rPr lang="en-IN" smtClean="0"/>
              <a:t>‹#›</a:t>
            </a:fld>
            <a:endParaRPr lang="en-IN"/>
          </a:p>
        </p:txBody>
      </p:sp>
    </p:spTree>
    <p:extLst>
      <p:ext uri="{BB962C8B-B14F-4D97-AF65-F5344CB8AC3E}">
        <p14:creationId xmlns:p14="http://schemas.microsoft.com/office/powerpoint/2010/main" val="3254337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110A53-9588-4E91-8C1A-265F886A3DBB}" type="datetimeFigureOut">
              <a:rPr lang="en-IN" smtClean="0"/>
              <a:t>31-08-2021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75B0D9-9D87-44AA-9D35-652D66321889}" type="slidenum">
              <a:rPr lang="en-IN" smtClean="0"/>
              <a:t>‹#›</a:t>
            </a:fld>
            <a:endParaRPr lang="en-IN"/>
          </a:p>
        </p:txBody>
      </p:sp>
    </p:spTree>
    <p:extLst>
      <p:ext uri="{BB962C8B-B14F-4D97-AF65-F5344CB8AC3E}">
        <p14:creationId xmlns:p14="http://schemas.microsoft.com/office/powerpoint/2010/main" val="57679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2110A53-9588-4E91-8C1A-265F886A3DBB}" type="datetimeFigureOut">
              <a:rPr lang="en-IN" smtClean="0"/>
              <a:t>31-08-2021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75B0D9-9D87-44AA-9D35-652D66321889}" type="slidenum">
              <a:rPr lang="en-IN" smtClean="0"/>
              <a:t>‹#›</a:t>
            </a:fld>
            <a:endParaRPr lang="en-IN"/>
          </a:p>
        </p:txBody>
      </p:sp>
    </p:spTree>
    <p:extLst>
      <p:ext uri="{BB962C8B-B14F-4D97-AF65-F5344CB8AC3E}">
        <p14:creationId xmlns:p14="http://schemas.microsoft.com/office/powerpoint/2010/main" val="2676271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2110A53-9588-4E91-8C1A-265F886A3DBB}" type="datetimeFigureOut">
              <a:rPr lang="en-IN" smtClean="0"/>
              <a:t>31-08-2021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075B0D9-9D87-44AA-9D35-652D66321889}" type="slidenum">
              <a:rPr lang="en-IN" smtClean="0"/>
              <a:t>‹#›</a:t>
            </a:fld>
            <a:endParaRPr lang="en-IN"/>
          </a:p>
        </p:txBody>
      </p:sp>
    </p:spTree>
    <p:extLst>
      <p:ext uri="{BB962C8B-B14F-4D97-AF65-F5344CB8AC3E}">
        <p14:creationId xmlns:p14="http://schemas.microsoft.com/office/powerpoint/2010/main" val="2997768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2110A53-9588-4E91-8C1A-265F886A3DBB}" type="datetimeFigureOut">
              <a:rPr lang="en-IN" smtClean="0"/>
              <a:t>31-08-2021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075B0D9-9D87-44AA-9D35-652D66321889}" type="slidenum">
              <a:rPr lang="en-IN" smtClean="0"/>
              <a:t>‹#›</a:t>
            </a:fld>
            <a:endParaRPr lang="en-IN"/>
          </a:p>
        </p:txBody>
      </p:sp>
    </p:spTree>
    <p:extLst>
      <p:ext uri="{BB962C8B-B14F-4D97-AF65-F5344CB8AC3E}">
        <p14:creationId xmlns:p14="http://schemas.microsoft.com/office/powerpoint/2010/main" val="29236225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110A53-9588-4E91-8C1A-265F886A3DBB}" type="datetimeFigureOut">
              <a:rPr lang="en-IN" smtClean="0"/>
              <a:t>31-08-2021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075B0D9-9D87-44AA-9D35-652D66321889}" type="slidenum">
              <a:rPr lang="en-IN" smtClean="0"/>
              <a:t>‹#›</a:t>
            </a:fld>
            <a:endParaRPr lang="en-IN"/>
          </a:p>
        </p:txBody>
      </p:sp>
    </p:spTree>
    <p:extLst>
      <p:ext uri="{BB962C8B-B14F-4D97-AF65-F5344CB8AC3E}">
        <p14:creationId xmlns:p14="http://schemas.microsoft.com/office/powerpoint/2010/main" val="2515454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110A53-9588-4E91-8C1A-265F886A3DBB}" type="datetimeFigureOut">
              <a:rPr lang="en-IN" smtClean="0"/>
              <a:t>31-08-2021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75B0D9-9D87-44AA-9D35-652D66321889}" type="slidenum">
              <a:rPr lang="en-IN" smtClean="0"/>
              <a:t>‹#›</a:t>
            </a:fld>
            <a:endParaRPr lang="en-IN"/>
          </a:p>
        </p:txBody>
      </p:sp>
    </p:spTree>
    <p:extLst>
      <p:ext uri="{BB962C8B-B14F-4D97-AF65-F5344CB8AC3E}">
        <p14:creationId xmlns:p14="http://schemas.microsoft.com/office/powerpoint/2010/main" val="21816643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110A53-9588-4E91-8C1A-265F886A3DBB}" type="datetimeFigureOut">
              <a:rPr lang="en-IN" smtClean="0"/>
              <a:t>31-08-2021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75B0D9-9D87-44AA-9D35-652D66321889}" type="slidenum">
              <a:rPr lang="en-IN" smtClean="0"/>
              <a:t>‹#›</a:t>
            </a:fld>
            <a:endParaRPr lang="en-IN"/>
          </a:p>
        </p:txBody>
      </p:sp>
    </p:spTree>
    <p:extLst>
      <p:ext uri="{BB962C8B-B14F-4D97-AF65-F5344CB8AC3E}">
        <p14:creationId xmlns:p14="http://schemas.microsoft.com/office/powerpoint/2010/main" val="379351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110A53-9588-4E91-8C1A-265F886A3DBB}" type="datetimeFigureOut">
              <a:rPr lang="en-IN" smtClean="0"/>
              <a:t>31-08-2021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75B0D9-9D87-44AA-9D35-652D66321889}" type="slidenum">
              <a:rPr lang="en-IN" smtClean="0"/>
              <a:t>‹#›</a:t>
            </a:fld>
            <a:endParaRPr lang="en-IN"/>
          </a:p>
        </p:txBody>
      </p:sp>
    </p:spTree>
    <p:extLst>
      <p:ext uri="{BB962C8B-B14F-4D97-AF65-F5344CB8AC3E}">
        <p14:creationId xmlns:p14="http://schemas.microsoft.com/office/powerpoint/2010/main" val="23127042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110A53-9588-4E91-8C1A-265F886A3DBB}" type="datetimeFigureOut">
              <a:rPr lang="en-IN" smtClean="0"/>
              <a:t>31-08-2021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75B0D9-9D87-44AA-9D35-652D66321889}" type="slidenum">
              <a:rPr lang="en-IN" smtClean="0"/>
              <a:t>‹#›</a:t>
            </a:fld>
            <a:endParaRPr lang="en-IN"/>
          </a:p>
        </p:txBody>
      </p:sp>
    </p:spTree>
    <p:extLst>
      <p:ext uri="{BB962C8B-B14F-4D97-AF65-F5344CB8AC3E}">
        <p14:creationId xmlns:p14="http://schemas.microsoft.com/office/powerpoint/2010/main" val="488195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110A53-9588-4E91-8C1A-265F886A3DBB}" type="datetimeFigureOut">
              <a:rPr lang="en-IN" smtClean="0"/>
              <a:t>31-08-2021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75B0D9-9D87-44AA-9D35-652D66321889}"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301838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110A53-9588-4E91-8C1A-265F886A3DBB}" type="datetimeFigureOut">
              <a:rPr lang="en-IN" smtClean="0"/>
              <a:t>31-08-2021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75B0D9-9D87-44AA-9D35-652D66321889}" type="slidenum">
              <a:rPr lang="en-IN" smtClean="0"/>
              <a:t>‹#›</a:t>
            </a:fld>
            <a:endParaRPr lang="en-IN"/>
          </a:p>
        </p:txBody>
      </p:sp>
    </p:spTree>
    <p:extLst>
      <p:ext uri="{BB962C8B-B14F-4D97-AF65-F5344CB8AC3E}">
        <p14:creationId xmlns:p14="http://schemas.microsoft.com/office/powerpoint/2010/main" val="40715780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2110A53-9588-4E91-8C1A-265F886A3DBB}" type="datetimeFigureOut">
              <a:rPr lang="en-IN" smtClean="0"/>
              <a:t>31-08-2021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075B0D9-9D87-44AA-9D35-652D66321889}" type="slidenum">
              <a:rPr lang="en-IN" smtClean="0"/>
              <a:t>‹#›</a:t>
            </a:fld>
            <a:endParaRPr lang="en-IN"/>
          </a:p>
        </p:txBody>
      </p:sp>
    </p:spTree>
    <p:extLst>
      <p:ext uri="{BB962C8B-B14F-4D97-AF65-F5344CB8AC3E}">
        <p14:creationId xmlns:p14="http://schemas.microsoft.com/office/powerpoint/2010/main" val="4601856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2110A53-9588-4E91-8C1A-265F886A3DBB}" type="datetimeFigureOut">
              <a:rPr lang="en-IN" smtClean="0"/>
              <a:t>31-08-2021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075B0D9-9D87-44AA-9D35-652D66321889}" type="slidenum">
              <a:rPr lang="en-IN" smtClean="0"/>
              <a:t>‹#›</a:t>
            </a:fld>
            <a:endParaRPr lang="en-IN"/>
          </a:p>
        </p:txBody>
      </p:sp>
    </p:spTree>
    <p:extLst>
      <p:ext uri="{BB962C8B-B14F-4D97-AF65-F5344CB8AC3E}">
        <p14:creationId xmlns:p14="http://schemas.microsoft.com/office/powerpoint/2010/main" val="33891798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110A53-9588-4E91-8C1A-265F886A3DBB}" type="datetimeFigureOut">
              <a:rPr lang="en-IN" smtClean="0"/>
              <a:t>31-08-2021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75B0D9-9D87-44AA-9D35-652D66321889}" type="slidenum">
              <a:rPr lang="en-IN" smtClean="0"/>
              <a:t>‹#›</a:t>
            </a:fld>
            <a:endParaRPr lang="en-IN"/>
          </a:p>
        </p:txBody>
      </p:sp>
    </p:spTree>
    <p:extLst>
      <p:ext uri="{BB962C8B-B14F-4D97-AF65-F5344CB8AC3E}">
        <p14:creationId xmlns:p14="http://schemas.microsoft.com/office/powerpoint/2010/main" val="34086000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110A53-9588-4E91-8C1A-265F886A3DBB}" type="datetimeFigureOut">
              <a:rPr lang="en-IN" smtClean="0"/>
              <a:t>31-08-2021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75B0D9-9D87-44AA-9D35-652D66321889}" type="slidenum">
              <a:rPr lang="en-IN" smtClean="0"/>
              <a:t>‹#›</a:t>
            </a:fld>
            <a:endParaRPr lang="en-IN"/>
          </a:p>
        </p:txBody>
      </p:sp>
    </p:spTree>
    <p:extLst>
      <p:ext uri="{BB962C8B-B14F-4D97-AF65-F5344CB8AC3E}">
        <p14:creationId xmlns:p14="http://schemas.microsoft.com/office/powerpoint/2010/main" val="3939774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2110A53-9588-4E91-8C1A-265F886A3DBB}" type="datetimeFigureOut">
              <a:rPr lang="en-IN" smtClean="0"/>
              <a:t>31-08-2021</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075B0D9-9D87-44AA-9D35-652D66321889}" type="slidenum">
              <a:rPr lang="en-IN" smtClean="0"/>
              <a:t>‹#›</a:t>
            </a:fld>
            <a:endParaRPr lang="en-IN"/>
          </a:p>
        </p:txBody>
      </p:sp>
    </p:spTree>
    <p:extLst>
      <p:ext uri="{BB962C8B-B14F-4D97-AF65-F5344CB8AC3E}">
        <p14:creationId xmlns:p14="http://schemas.microsoft.com/office/powerpoint/2010/main" val="415828211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hyperlink" Target="https://www.usa.philips.com/healthcare" TargetMode="External"/><Relationship Id="rId13" Type="http://schemas.openxmlformats.org/officeDocument/2006/relationships/hyperlink" Target="https://www.saksoft.com/healthcare/" TargetMode="External"/><Relationship Id="rId3" Type="http://schemas.openxmlformats.org/officeDocument/2006/relationships/hyperlink" Target="https://www.healthcareglobal.com/technology-and-ai-3/data-security-increasing-concern-due-byod" TargetMode="External"/><Relationship Id="rId7" Type="http://schemas.openxmlformats.org/officeDocument/2006/relationships/hyperlink" Target="https://www.usa.philips.com/healthcare/solutions/pathology" TargetMode="External"/><Relationship Id="rId12" Type="http://schemas.openxmlformats.org/officeDocument/2006/relationships/hyperlink" Target="https://www.rcpath.org/discover-pathology/public-affairs/it-and-laboratory-information-management-systems-lims.html" TargetMode="External"/><Relationship Id="rId2" Type="http://schemas.openxmlformats.org/officeDocument/2006/relationships/hyperlink" Target="https://blog.cdw.com/digital-workspace/5-ways-can-improve-clinician-experience-patient-care" TargetMode="External"/><Relationship Id="rId1" Type="http://schemas.openxmlformats.org/officeDocument/2006/relationships/slideLayout" Target="../slideLayouts/slideLayout7.xml"/><Relationship Id="rId6" Type="http://schemas.openxmlformats.org/officeDocument/2006/relationships/hyperlink" Target="https://www.rcpa.edu.au/Library/Practising-Pathology/PTIS" TargetMode="External"/><Relationship Id="rId11" Type="http://schemas.openxmlformats.org/officeDocument/2006/relationships/hyperlink" Target="https://www.gemr.org/emt/" TargetMode="External"/><Relationship Id="rId5" Type="http://schemas.openxmlformats.org/officeDocument/2006/relationships/hyperlink" Target="https://www.limswiki.org/index.php/Laboratory_information_system" TargetMode="External"/><Relationship Id="rId15" Type="http://schemas.openxmlformats.org/officeDocument/2006/relationships/hyperlink" Target="https://informatics.bmj.com/content/25/3/169" TargetMode="External"/><Relationship Id="rId10" Type="http://schemas.openxmlformats.org/officeDocument/2006/relationships/hyperlink" Target="https://webpath.med.utah.edu/CVHTML/CVIDX.html" TargetMode="External"/><Relationship Id="rId4" Type="http://schemas.openxmlformats.org/officeDocument/2006/relationships/hyperlink" Target="https://searchhealthit.techtarget.com/definition/personal-health-record-PHR" TargetMode="External"/><Relationship Id="rId9" Type="http://schemas.openxmlformats.org/officeDocument/2006/relationships/hyperlink" Target="https://webpath.med.utah.edu/ORGAN.html#1" TargetMode="External"/><Relationship Id="rId14" Type="http://schemas.openxmlformats.org/officeDocument/2006/relationships/hyperlink" Target="https://www.cdw.com/content/cdw/en/solutions/digital-transformation/digital-transformation-in-healthcare.html#:~:text=CDW%20can%20orchestrate%20a%20digital,and%20cost%2Deffective%20healthcare%20facility"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699FA"/>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9233FE-60C4-4BEF-A711-51B13340F3B8}"/>
              </a:ext>
            </a:extLst>
          </p:cNvPr>
          <p:cNvSpPr>
            <a:spLocks noGrp="1"/>
          </p:cNvSpPr>
          <p:nvPr>
            <p:ph type="title"/>
          </p:nvPr>
        </p:nvSpPr>
        <p:spPr>
          <a:xfrm>
            <a:off x="1332148" y="2291690"/>
            <a:ext cx="9905998" cy="1478570"/>
          </a:xfrm>
        </p:spPr>
        <p:txBody>
          <a:bodyPr>
            <a:normAutofit/>
          </a:bodyPr>
          <a:lstStyle/>
          <a:p>
            <a:pPr algn="ctr"/>
            <a:r>
              <a:rPr lang="en-US" sz="6000" u="sng" dirty="0">
                <a:solidFill>
                  <a:sysClr val="windowText" lastClr="000000"/>
                </a:solidFill>
              </a:rPr>
              <a:t>SSR DOCUMENTS</a:t>
            </a:r>
            <a:endParaRPr lang="en-IN" sz="6000" u="sng" dirty="0">
              <a:solidFill>
                <a:sysClr val="windowText" lastClr="000000"/>
              </a:solidFill>
            </a:endParaRPr>
          </a:p>
        </p:txBody>
      </p:sp>
    </p:spTree>
    <p:extLst>
      <p:ext uri="{BB962C8B-B14F-4D97-AF65-F5344CB8AC3E}">
        <p14:creationId xmlns:p14="http://schemas.microsoft.com/office/powerpoint/2010/main" val="1856410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BEB495-14B7-4BC7-BA8B-30472F8A12B9}"/>
              </a:ext>
            </a:extLst>
          </p:cNvPr>
          <p:cNvSpPr txBox="1"/>
          <p:nvPr/>
        </p:nvSpPr>
        <p:spPr>
          <a:xfrm>
            <a:off x="3195457" y="145088"/>
            <a:ext cx="6102926" cy="6567824"/>
          </a:xfrm>
          <a:prstGeom prst="rect">
            <a:avLst/>
          </a:prstGeom>
          <a:noFill/>
        </p:spPr>
        <p:txBody>
          <a:bodyPr wrap="square">
            <a:spAutoFit/>
          </a:bodyPr>
          <a:lstStyle/>
          <a:p>
            <a:pPr algn="ctr">
              <a:lnSpc>
                <a:spcPct val="107000"/>
              </a:lnSpc>
              <a:spcAft>
                <a:spcPts val="800"/>
              </a:spcAft>
            </a:pPr>
            <a:r>
              <a:rPr lang="en-US" sz="2200" b="1" u="sng"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TABLE OF CONTENT FOR SRS DOCUMENT</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US" sz="2200" b="1" u="none" strike="noStrike"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15000"/>
              </a:lnSpc>
              <a:buFont typeface="+mj-lt"/>
              <a:buAutoNum type="arabicPeriod"/>
            </a:pPr>
            <a:r>
              <a:rPr lang="en-US" sz="16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INTRODUCTION</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15000"/>
              </a:lnSpc>
              <a:buFont typeface="+mj-lt"/>
              <a:buAutoNum type="arabicPeriod"/>
            </a:pPr>
            <a:r>
              <a:rPr lang="en-US" sz="14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PURPOSE</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15000"/>
              </a:lnSpc>
              <a:buFont typeface="+mj-lt"/>
              <a:buAutoNum type="arabicPeriod"/>
            </a:pPr>
            <a:r>
              <a:rPr lang="en-US" sz="14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DOCUMENT CONVENTION</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15000"/>
              </a:lnSpc>
              <a:buFont typeface="+mj-lt"/>
              <a:buAutoNum type="arabicPeriod"/>
            </a:pPr>
            <a:r>
              <a:rPr lang="en-US" sz="14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INTENDED AUDIENCE</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15000"/>
              </a:lnSpc>
              <a:buFont typeface="+mj-lt"/>
              <a:buAutoNum type="arabicPeriod"/>
            </a:pPr>
            <a:r>
              <a:rPr lang="en-US" sz="14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PROJECT SCOPE</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15000"/>
              </a:lnSpc>
              <a:buFont typeface="+mj-lt"/>
              <a:buAutoNum type="arabicPeriod"/>
            </a:pPr>
            <a:r>
              <a:rPr lang="en-US" sz="14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REFERENCE</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685800">
              <a:lnSpc>
                <a:spcPct val="107000"/>
              </a:lnSpc>
            </a:pPr>
            <a:r>
              <a:rPr lang="en-US" sz="14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15000"/>
              </a:lnSpc>
              <a:buFont typeface="+mj-lt"/>
              <a:buAutoNum type="arabicPeriod"/>
            </a:pPr>
            <a:r>
              <a:rPr lang="en-US" sz="16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OVERALL DESCRIPTION</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15000"/>
              </a:lnSpc>
              <a:buFont typeface="+mj-lt"/>
              <a:buAutoNum type="arabicPeriod"/>
            </a:pPr>
            <a:r>
              <a:rPr lang="en-US" sz="14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PRODUCT PERSPECTIVE</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15000"/>
              </a:lnSpc>
              <a:buFont typeface="+mj-lt"/>
              <a:buAutoNum type="arabicPeriod"/>
            </a:pPr>
            <a:r>
              <a:rPr lang="en-US" sz="14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PRODUCT FEATURES</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15000"/>
              </a:lnSpc>
              <a:buFont typeface="+mj-lt"/>
              <a:buAutoNum type="arabicPeriod"/>
            </a:pPr>
            <a:r>
              <a:rPr lang="en-US" sz="14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USER CLASS AND CHARACTERISTICS</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15000"/>
              </a:lnSpc>
              <a:buFont typeface="+mj-lt"/>
              <a:buAutoNum type="arabicPeriod"/>
            </a:pPr>
            <a:r>
              <a:rPr lang="en-US" sz="14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OPERATING ENVIRONEMENT</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15000"/>
              </a:lnSpc>
              <a:buFont typeface="+mj-lt"/>
              <a:buAutoNum type="arabicPeriod"/>
            </a:pPr>
            <a:r>
              <a:rPr lang="en-US" sz="14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DESIGN AND IMPLEMENTATION CONSTRAINTS</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15000"/>
              </a:lnSpc>
              <a:buFont typeface="+mj-lt"/>
              <a:buAutoNum type="arabicPeriod"/>
            </a:pPr>
            <a:r>
              <a:rPr lang="en-US" sz="14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ASSUMPTION DEPENDENCIES</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685800">
              <a:lnSpc>
                <a:spcPct val="107000"/>
              </a:lnSpc>
            </a:pPr>
            <a:r>
              <a:rPr lang="en-US" sz="12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15000"/>
              </a:lnSpc>
              <a:buFont typeface="+mj-lt"/>
              <a:buAutoNum type="arabicPeriod"/>
            </a:pPr>
            <a:r>
              <a:rPr lang="en-US" sz="16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SYSTEM FEATURES</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15000"/>
              </a:lnSpc>
              <a:buFont typeface="+mj-lt"/>
              <a:buAutoNum type="arabicPeriod"/>
            </a:pPr>
            <a:r>
              <a:rPr lang="en-US" sz="14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FUCTIONAL REQUIREMENTS</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15000"/>
              </a:lnSpc>
              <a:buFont typeface="+mj-lt"/>
              <a:buAutoNum type="arabicPeriod"/>
            </a:pPr>
            <a:r>
              <a:rPr lang="en-US" sz="14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SOFTWARE QUALITY ATTRIBUTES</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pPr>
            <a:r>
              <a:rPr lang="en-US" sz="16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15000"/>
              </a:lnSpc>
              <a:buFont typeface="+mj-lt"/>
              <a:buAutoNum type="arabicPeriod"/>
            </a:pPr>
            <a:r>
              <a:rPr lang="en-US" sz="16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SYSTEM REQUIREMENTS</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15000"/>
              </a:lnSpc>
              <a:buFont typeface="+mj-lt"/>
              <a:buAutoNum type="arabicPeriod"/>
            </a:pPr>
            <a:r>
              <a:rPr lang="en-US" sz="14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HARDWARE REQUIREMENTS</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15000"/>
              </a:lnSpc>
              <a:spcAft>
                <a:spcPts val="800"/>
              </a:spcAft>
              <a:buFont typeface="+mj-lt"/>
              <a:buAutoNum type="arabicPeriod"/>
            </a:pPr>
            <a:r>
              <a:rPr lang="en-US" sz="14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SOFTWARE REQUIREMENTS</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27499166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5DA9D6-82BA-4CBA-817D-1896A628A0A7}"/>
              </a:ext>
            </a:extLst>
          </p:cNvPr>
          <p:cNvSpPr txBox="1"/>
          <p:nvPr/>
        </p:nvSpPr>
        <p:spPr>
          <a:xfrm>
            <a:off x="3167816" y="2671709"/>
            <a:ext cx="6102926" cy="847604"/>
          </a:xfrm>
          <a:prstGeom prst="rect">
            <a:avLst/>
          </a:prstGeom>
          <a:noFill/>
        </p:spPr>
        <p:txBody>
          <a:bodyPr wrap="square">
            <a:spAutoFit/>
          </a:bodyPr>
          <a:lstStyle/>
          <a:p>
            <a:pPr lvl="0" algn="ctr">
              <a:lnSpc>
                <a:spcPct val="107000"/>
              </a:lnSpc>
              <a:spcAft>
                <a:spcPts val="800"/>
              </a:spcAft>
            </a:pPr>
            <a:r>
              <a:rPr lang="en-US" sz="48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INTRODUCTION</a:t>
            </a:r>
            <a:endParaRPr lang="en-IN" sz="4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2142598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61422A-028A-4E78-BC83-6C49DD5B85B1}"/>
              </a:ext>
            </a:extLst>
          </p:cNvPr>
          <p:cNvSpPr txBox="1"/>
          <p:nvPr/>
        </p:nvSpPr>
        <p:spPr>
          <a:xfrm>
            <a:off x="3116297" y="1172592"/>
            <a:ext cx="6102926" cy="658835"/>
          </a:xfrm>
          <a:prstGeom prst="rect">
            <a:avLst/>
          </a:prstGeom>
          <a:noFill/>
        </p:spPr>
        <p:txBody>
          <a:bodyPr wrap="square">
            <a:spAutoFit/>
          </a:bodyPr>
          <a:lstStyle/>
          <a:p>
            <a:pPr algn="ctr">
              <a:lnSpc>
                <a:spcPct val="107000"/>
              </a:lnSpc>
              <a:spcAft>
                <a:spcPts val="800"/>
              </a:spcAft>
            </a:pPr>
            <a:r>
              <a:rPr lang="en-US" sz="36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PURPOSE</a:t>
            </a:r>
            <a:endParaRPr lang="en-IN" sz="3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
        <p:nvSpPr>
          <p:cNvPr id="5" name="TextBox 4">
            <a:extLst>
              <a:ext uri="{FF2B5EF4-FFF2-40B4-BE49-F238E27FC236}">
                <a16:creationId xmlns:a16="http://schemas.microsoft.com/office/drawing/2014/main" id="{0C4A5860-D64B-4D94-BB7D-E50F96FE9892}"/>
              </a:ext>
            </a:extLst>
          </p:cNvPr>
          <p:cNvSpPr txBox="1"/>
          <p:nvPr/>
        </p:nvSpPr>
        <p:spPr>
          <a:xfrm>
            <a:off x="2860055" y="3003605"/>
            <a:ext cx="7597840" cy="1264642"/>
          </a:xfrm>
          <a:prstGeom prst="rect">
            <a:avLst/>
          </a:prstGeom>
          <a:noFill/>
        </p:spPr>
        <p:txBody>
          <a:bodyPr wrap="square">
            <a:spAutoFit/>
          </a:bodyPr>
          <a:lstStyle/>
          <a:p>
            <a:pPr>
              <a:lnSpc>
                <a:spcPct val="107000"/>
              </a:lnSpc>
              <a:spcAft>
                <a:spcPts val="800"/>
              </a:spcAft>
            </a:pPr>
            <a:r>
              <a:rPr lang="en-US"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The purpose of our founder, Mr. Raphael Mantosh is to create healthcare application for every citizens and to ensure that everyone can get the best in healthcare by each healthcare workers and departments by staying connected with each other.</a:t>
            </a:r>
            <a:endParaRPr lang="en-IN" sz="14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152056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63C502-89EE-4B42-B2E9-AE686FBF8916}"/>
              </a:ext>
            </a:extLst>
          </p:cNvPr>
          <p:cNvSpPr txBox="1"/>
          <p:nvPr/>
        </p:nvSpPr>
        <p:spPr>
          <a:xfrm>
            <a:off x="3408992" y="1302261"/>
            <a:ext cx="6102926" cy="658835"/>
          </a:xfrm>
          <a:prstGeom prst="rect">
            <a:avLst/>
          </a:prstGeom>
          <a:noFill/>
        </p:spPr>
        <p:txBody>
          <a:bodyPr wrap="square">
            <a:spAutoFit/>
          </a:bodyPr>
          <a:lstStyle/>
          <a:p>
            <a:pPr algn="ctr">
              <a:lnSpc>
                <a:spcPct val="107000"/>
              </a:lnSpc>
              <a:spcAft>
                <a:spcPts val="800"/>
              </a:spcAft>
            </a:pPr>
            <a:r>
              <a:rPr lang="en-US" sz="36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DOCUMENT CONVENTIONS</a:t>
            </a:r>
            <a:endParaRPr lang="en-IN" sz="3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
        <p:nvSpPr>
          <p:cNvPr id="5" name="TextBox 4">
            <a:extLst>
              <a:ext uri="{FF2B5EF4-FFF2-40B4-BE49-F238E27FC236}">
                <a16:creationId xmlns:a16="http://schemas.microsoft.com/office/drawing/2014/main" id="{A90309B8-B4D9-4CF6-98FC-EBEF605168B4}"/>
              </a:ext>
            </a:extLst>
          </p:cNvPr>
          <p:cNvSpPr txBox="1"/>
          <p:nvPr/>
        </p:nvSpPr>
        <p:spPr>
          <a:xfrm>
            <a:off x="2032986" y="3074626"/>
            <a:ext cx="9001958" cy="1264642"/>
          </a:xfrm>
          <a:prstGeom prst="rect">
            <a:avLst/>
          </a:prstGeom>
          <a:noFill/>
        </p:spPr>
        <p:txBody>
          <a:bodyPr wrap="square">
            <a:spAutoFit/>
          </a:bodyPr>
          <a:lstStyle/>
          <a:p>
            <a:pPr>
              <a:lnSpc>
                <a:spcPct val="107000"/>
              </a:lnSpc>
              <a:spcAft>
                <a:spcPts val="800"/>
              </a:spcAft>
            </a:pPr>
            <a:r>
              <a:rPr lang="en-US"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This application is created for the citizens who can sit at home and apply for any emergency medical treatment and they can even book ambulance and track their location or order any kinds of medicine instantly. It create a relationship between the citizens and the hospital administration.</a:t>
            </a:r>
            <a:endParaRPr lang="en-IN" sz="14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19473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28A0BA-E619-4AB9-AEFF-D38A50B4FBD9}"/>
              </a:ext>
            </a:extLst>
          </p:cNvPr>
          <p:cNvSpPr txBox="1"/>
          <p:nvPr/>
        </p:nvSpPr>
        <p:spPr>
          <a:xfrm>
            <a:off x="3337501" y="1600351"/>
            <a:ext cx="6102926" cy="646331"/>
          </a:xfrm>
          <a:prstGeom prst="rect">
            <a:avLst/>
          </a:prstGeom>
          <a:noFill/>
        </p:spPr>
        <p:txBody>
          <a:bodyPr wrap="square">
            <a:spAutoFit/>
          </a:bodyPr>
          <a:lstStyle/>
          <a:p>
            <a:pPr algn="ctr"/>
            <a:r>
              <a:rPr lang="en-US" sz="36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INTENDED AUDIENCE </a:t>
            </a:r>
            <a:endParaRPr lang="en-IN" sz="3600" dirty="0">
              <a:solidFill>
                <a:sysClr val="windowText" lastClr="000000"/>
              </a:solidFill>
            </a:endParaRPr>
          </a:p>
        </p:txBody>
      </p:sp>
      <p:sp>
        <p:nvSpPr>
          <p:cNvPr id="5" name="TextBox 4">
            <a:extLst>
              <a:ext uri="{FF2B5EF4-FFF2-40B4-BE49-F238E27FC236}">
                <a16:creationId xmlns:a16="http://schemas.microsoft.com/office/drawing/2014/main" id="{B3707339-4EC7-4459-824E-ECF352EBEAE9}"/>
              </a:ext>
            </a:extLst>
          </p:cNvPr>
          <p:cNvSpPr txBox="1"/>
          <p:nvPr/>
        </p:nvSpPr>
        <p:spPr>
          <a:xfrm>
            <a:off x="3250672" y="3190698"/>
            <a:ext cx="7065179" cy="671915"/>
          </a:xfrm>
          <a:prstGeom prst="rect">
            <a:avLst/>
          </a:prstGeom>
          <a:noFill/>
        </p:spPr>
        <p:txBody>
          <a:bodyPr wrap="square">
            <a:spAutoFit/>
          </a:bodyPr>
          <a:lstStyle/>
          <a:p>
            <a:pPr>
              <a:lnSpc>
                <a:spcPct val="107000"/>
              </a:lnSpc>
              <a:spcAft>
                <a:spcPts val="800"/>
              </a:spcAft>
            </a:pPr>
            <a:r>
              <a:rPr lang="en-US"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The targeted audience is Doctor’s, Patient, Ambulance, Blood Bank and Pharmacy</a:t>
            </a:r>
            <a:r>
              <a:rPr lang="en-US" sz="1800" dirty="0">
                <a:effectLst/>
                <a:latin typeface="Calibri" panose="020F0502020204030204" pitchFamily="34" charset="0"/>
                <a:ea typeface="Calibri" panose="020F0502020204030204" pitchFamily="34" charset="0"/>
                <a:cs typeface="Mangal" panose="02040503050203030202" pitchFamily="18" charset="0"/>
              </a:rPr>
              <a:t>. </a:t>
            </a:r>
            <a:endParaRPr lang="en-IN" sz="14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4773503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CCE119-2198-49D6-ADD2-881F5F20C371}"/>
              </a:ext>
            </a:extLst>
          </p:cNvPr>
          <p:cNvSpPr txBox="1"/>
          <p:nvPr/>
        </p:nvSpPr>
        <p:spPr>
          <a:xfrm>
            <a:off x="3168825" y="1297434"/>
            <a:ext cx="6102926" cy="646331"/>
          </a:xfrm>
          <a:prstGeom prst="rect">
            <a:avLst/>
          </a:prstGeom>
          <a:noFill/>
        </p:spPr>
        <p:txBody>
          <a:bodyPr wrap="square">
            <a:spAutoFit/>
          </a:bodyPr>
          <a:lstStyle/>
          <a:p>
            <a:pPr algn="ctr"/>
            <a:r>
              <a:rPr lang="en-US" sz="36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PROJECT SCOPE</a:t>
            </a:r>
            <a:endParaRPr lang="en-IN" sz="3600" dirty="0">
              <a:solidFill>
                <a:sysClr val="windowText" lastClr="000000"/>
              </a:solidFill>
            </a:endParaRPr>
          </a:p>
        </p:txBody>
      </p:sp>
      <p:sp>
        <p:nvSpPr>
          <p:cNvPr id="5" name="TextBox 4">
            <a:extLst>
              <a:ext uri="{FF2B5EF4-FFF2-40B4-BE49-F238E27FC236}">
                <a16:creationId xmlns:a16="http://schemas.microsoft.com/office/drawing/2014/main" id="{4BDA9940-03D9-443E-B33A-C1937F78B79D}"/>
              </a:ext>
            </a:extLst>
          </p:cNvPr>
          <p:cNvSpPr txBox="1"/>
          <p:nvPr/>
        </p:nvSpPr>
        <p:spPr>
          <a:xfrm>
            <a:off x="2015231" y="2955816"/>
            <a:ext cx="9001957" cy="1561005"/>
          </a:xfrm>
          <a:prstGeom prst="rect">
            <a:avLst/>
          </a:prstGeom>
          <a:noFill/>
        </p:spPr>
        <p:txBody>
          <a:bodyPr wrap="square">
            <a:spAutoFit/>
          </a:bodyPr>
          <a:lstStyle/>
          <a:p>
            <a:pPr>
              <a:lnSpc>
                <a:spcPct val="107000"/>
              </a:lnSpc>
              <a:spcAft>
                <a:spcPts val="800"/>
              </a:spcAft>
            </a:pPr>
            <a:r>
              <a:rPr lang="en-US"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The scope of our project is to serve the citizens as soon as possible even in times of an emergency, to help the people around the states and to build a relationship of humanity through our application. Everything will be easily available to the people in one touch, they don’t have to go out of their way for any kind of help, this application will reach out to them instantly and give them results in no time.</a:t>
            </a:r>
            <a:endParaRPr lang="en-IN" sz="14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3778283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E5672C-B0E2-4B86-B7A0-5FA1800B7D1B}"/>
              </a:ext>
            </a:extLst>
          </p:cNvPr>
          <p:cNvSpPr txBox="1"/>
          <p:nvPr/>
        </p:nvSpPr>
        <p:spPr>
          <a:xfrm>
            <a:off x="3439728" y="173478"/>
            <a:ext cx="6102926" cy="646331"/>
          </a:xfrm>
          <a:prstGeom prst="rect">
            <a:avLst/>
          </a:prstGeom>
          <a:noFill/>
        </p:spPr>
        <p:txBody>
          <a:bodyPr wrap="square">
            <a:spAutoFit/>
          </a:bodyPr>
          <a:lstStyle/>
          <a:p>
            <a:pPr algn="ctr"/>
            <a:r>
              <a:rPr lang="en-US" sz="36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REFERENCES</a:t>
            </a:r>
            <a:endParaRPr lang="en-IN" sz="3600" dirty="0">
              <a:solidFill>
                <a:sysClr val="windowText" lastClr="000000"/>
              </a:solidFill>
            </a:endParaRPr>
          </a:p>
        </p:txBody>
      </p:sp>
      <p:sp>
        <p:nvSpPr>
          <p:cNvPr id="5" name="TextBox 4">
            <a:extLst>
              <a:ext uri="{FF2B5EF4-FFF2-40B4-BE49-F238E27FC236}">
                <a16:creationId xmlns:a16="http://schemas.microsoft.com/office/drawing/2014/main" id="{A6FE0EF4-2EB2-49FD-8DD9-47756DC808C5}"/>
              </a:ext>
            </a:extLst>
          </p:cNvPr>
          <p:cNvSpPr txBox="1"/>
          <p:nvPr/>
        </p:nvSpPr>
        <p:spPr>
          <a:xfrm>
            <a:off x="332509" y="819809"/>
            <a:ext cx="11859491" cy="6038191"/>
          </a:xfrm>
          <a:prstGeom prst="rect">
            <a:avLst/>
          </a:prstGeom>
          <a:noFill/>
        </p:spPr>
        <p:txBody>
          <a:bodyPr wrap="square">
            <a:spAutoFit/>
          </a:bodyPr>
          <a:lstStyle/>
          <a:p>
            <a:pPr>
              <a:lnSpc>
                <a:spcPct val="107000"/>
              </a:lnSpc>
              <a:spcAft>
                <a:spcPts val="800"/>
              </a:spcAft>
            </a:pPr>
            <a:r>
              <a:rPr lang="en-US" sz="14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Our application will be a time saver for its user, it has exceptional features by which it can detect the people’s health and give them advice what to do and not to do. They can consult with the doctor and they will get the feedback about their health. </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gn="just">
              <a:lnSpc>
                <a:spcPct val="107000"/>
              </a:lnSpc>
              <a:spcAft>
                <a:spcPts val="800"/>
              </a:spcAft>
            </a:pPr>
            <a:r>
              <a:rPr lang="en-IN" sz="1100" b="1" u="sng" dirty="0">
                <a:ln>
                  <a:noFill/>
                </a:ln>
                <a:solidFill>
                  <a:sysClr val="windowText" lastClr="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hlinkClick r:id="rId2">
                  <a:extLst>
                    <a:ext uri="{A12FA001-AC4F-418D-AE19-62706E023703}">
                      <ahyp:hlinkClr xmlns:ahyp="http://schemas.microsoft.com/office/drawing/2018/hyperlinkcolor" val="tx"/>
                    </a:ext>
                  </a:extLst>
                </a:hlinkClick>
              </a:rPr>
              <a:t>https://blog.cdw.com/digital-workspace/5-ways-can-improve-clinician-experience-patient-care</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gn="just">
              <a:lnSpc>
                <a:spcPct val="107000"/>
              </a:lnSpc>
              <a:spcAft>
                <a:spcPts val="800"/>
              </a:spcAft>
            </a:pPr>
            <a:r>
              <a:rPr lang="en-IN" sz="1100" b="1" u="sng" dirty="0">
                <a:ln>
                  <a:noFill/>
                </a:ln>
                <a:solidFill>
                  <a:sysClr val="windowText" lastClr="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hlinkClick r:id="rId3">
                  <a:extLst>
                    <a:ext uri="{A12FA001-AC4F-418D-AE19-62706E023703}">
                      <ahyp:hlinkClr xmlns:ahyp="http://schemas.microsoft.com/office/drawing/2018/hyperlinkcolor" val="tx"/>
                    </a:ext>
                  </a:extLst>
                </a:hlinkClick>
              </a:rPr>
              <a:t>https://www.healthcareglobal.com/technology-and-ai-3/data-security-increasing-concern-due-byod</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gn="just">
              <a:lnSpc>
                <a:spcPct val="107000"/>
              </a:lnSpc>
              <a:spcAft>
                <a:spcPts val="800"/>
              </a:spcAft>
            </a:pPr>
            <a:r>
              <a:rPr lang="en-IN" sz="1100" b="1" u="sng" dirty="0">
                <a:ln>
                  <a:noFill/>
                </a:ln>
                <a:solidFill>
                  <a:sysClr val="windowText" lastClr="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hlinkClick r:id="rId4">
                  <a:extLst>
                    <a:ext uri="{A12FA001-AC4F-418D-AE19-62706E023703}">
                      <ahyp:hlinkClr xmlns:ahyp="http://schemas.microsoft.com/office/drawing/2018/hyperlinkcolor" val="tx"/>
                    </a:ext>
                  </a:extLst>
                </a:hlinkClick>
              </a:rPr>
              <a:t>What is personal health record (PHR)? - Definition from WhatIs.com (techtarget.com)</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gn="just">
              <a:lnSpc>
                <a:spcPct val="107000"/>
              </a:lnSpc>
              <a:spcAft>
                <a:spcPts val="800"/>
              </a:spcAft>
            </a:pPr>
            <a:r>
              <a:rPr lang="en-IN" sz="1100" b="1" u="sng" dirty="0">
                <a:ln>
                  <a:noFill/>
                </a:ln>
                <a:solidFill>
                  <a:sysClr val="windowText" lastClr="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hlinkClick r:id="rId5">
                  <a:extLst>
                    <a:ext uri="{A12FA001-AC4F-418D-AE19-62706E023703}">
                      <ahyp:hlinkClr xmlns:ahyp="http://schemas.microsoft.com/office/drawing/2018/hyperlinkcolor" val="tx"/>
                    </a:ext>
                  </a:extLst>
                </a:hlinkClick>
              </a:rPr>
              <a:t>Laboratory information system - </a:t>
            </a:r>
            <a:r>
              <a:rPr lang="en-IN" sz="1100" b="1" u="sng" dirty="0" err="1">
                <a:ln>
                  <a:noFill/>
                </a:ln>
                <a:solidFill>
                  <a:sysClr val="windowText" lastClr="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hlinkClick r:id="rId5">
                  <a:extLst>
                    <a:ext uri="{A12FA001-AC4F-418D-AE19-62706E023703}">
                      <ahyp:hlinkClr xmlns:ahyp="http://schemas.microsoft.com/office/drawing/2018/hyperlinkcolor" val="tx"/>
                    </a:ext>
                  </a:extLst>
                </a:hlinkClick>
              </a:rPr>
              <a:t>LIMSWiki</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gn="just">
              <a:lnSpc>
                <a:spcPct val="107000"/>
              </a:lnSpc>
              <a:spcAft>
                <a:spcPts val="800"/>
              </a:spcAft>
            </a:pPr>
            <a:r>
              <a:rPr lang="en-IN" sz="1100" b="1" u="sng" dirty="0">
                <a:ln>
                  <a:noFill/>
                </a:ln>
                <a:solidFill>
                  <a:sysClr val="windowText" lastClr="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hlinkClick r:id="rId6">
                  <a:extLst>
                    <a:ext uri="{A12FA001-AC4F-418D-AE19-62706E023703}">
                      <ahyp:hlinkClr xmlns:ahyp="http://schemas.microsoft.com/office/drawing/2018/hyperlinkcolor" val="tx"/>
                    </a:ext>
                  </a:extLst>
                </a:hlinkClick>
              </a:rPr>
              <a:t>RCPA - Pathology Terminology and Information Standardisation</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gn="just">
              <a:lnSpc>
                <a:spcPct val="107000"/>
              </a:lnSpc>
              <a:spcAft>
                <a:spcPts val="800"/>
              </a:spcAft>
            </a:pPr>
            <a:r>
              <a:rPr lang="en-IN" sz="1100" b="1" u="sng" dirty="0">
                <a:ln>
                  <a:noFill/>
                </a:ln>
                <a:solidFill>
                  <a:sysClr val="windowText" lastClr="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hlinkClick r:id="rId7">
                  <a:extLst>
                    <a:ext uri="{A12FA001-AC4F-418D-AE19-62706E023703}">
                      <ahyp:hlinkClr xmlns:ahyp="http://schemas.microsoft.com/office/drawing/2018/hyperlinkcolor" val="tx"/>
                    </a:ext>
                  </a:extLst>
                </a:hlinkClick>
              </a:rPr>
              <a:t>Philips Healthcare | Pathology</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gn="just">
              <a:lnSpc>
                <a:spcPct val="107000"/>
              </a:lnSpc>
              <a:spcAft>
                <a:spcPts val="800"/>
              </a:spcAft>
            </a:pPr>
            <a:r>
              <a:rPr lang="en-IN" sz="1100" b="1" u="sng" dirty="0">
                <a:ln>
                  <a:noFill/>
                </a:ln>
                <a:solidFill>
                  <a:sysClr val="windowText" lastClr="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hlinkClick r:id="rId8">
                  <a:extLst>
                    <a:ext uri="{A12FA001-AC4F-418D-AE19-62706E023703}">
                      <ahyp:hlinkClr xmlns:ahyp="http://schemas.microsoft.com/office/drawing/2018/hyperlinkcolor" val="tx"/>
                    </a:ext>
                  </a:extLst>
                </a:hlinkClick>
              </a:rPr>
              <a:t>Advancing Digital Health Technology | Philips Healthcare</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gn="just">
              <a:lnSpc>
                <a:spcPct val="107000"/>
              </a:lnSpc>
              <a:spcAft>
                <a:spcPts val="800"/>
              </a:spcAft>
            </a:pPr>
            <a:r>
              <a:rPr lang="en-IN" sz="1100" b="1" u="sng" dirty="0">
                <a:ln>
                  <a:noFill/>
                </a:ln>
                <a:solidFill>
                  <a:sysClr val="windowText" lastClr="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hlinkClick r:id="rId9">
                  <a:extLst>
                    <a:ext uri="{A12FA001-AC4F-418D-AE19-62706E023703}">
                      <ahyp:hlinkClr xmlns:ahyp="http://schemas.microsoft.com/office/drawing/2018/hyperlinkcolor" val="tx"/>
                    </a:ext>
                  </a:extLst>
                </a:hlinkClick>
              </a:rPr>
              <a:t>Organ system pathology for medical education - </a:t>
            </a:r>
            <a:r>
              <a:rPr lang="en-IN" sz="1100" b="1" u="sng" dirty="0" err="1">
                <a:ln>
                  <a:noFill/>
                </a:ln>
                <a:solidFill>
                  <a:sysClr val="windowText" lastClr="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hlinkClick r:id="rId9">
                  <a:extLst>
                    <a:ext uri="{A12FA001-AC4F-418D-AE19-62706E023703}">
                      <ahyp:hlinkClr xmlns:ahyp="http://schemas.microsoft.com/office/drawing/2018/hyperlinkcolor" val="tx"/>
                    </a:ext>
                  </a:extLst>
                </a:hlinkClick>
              </a:rPr>
              <a:t>WebPath</a:t>
            </a:r>
            <a:r>
              <a:rPr lang="en-IN" sz="1100" b="1" u="sng" dirty="0">
                <a:ln>
                  <a:noFill/>
                </a:ln>
                <a:solidFill>
                  <a:sysClr val="windowText" lastClr="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hlinkClick r:id="rId9">
                  <a:extLst>
                    <a:ext uri="{A12FA001-AC4F-418D-AE19-62706E023703}">
                      <ahyp:hlinkClr xmlns:ahyp="http://schemas.microsoft.com/office/drawing/2018/hyperlinkcolor" val="tx"/>
                    </a:ext>
                  </a:extLst>
                </a:hlinkClick>
              </a:rPr>
              <a:t> (utah.edu)</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gn="just">
              <a:lnSpc>
                <a:spcPct val="107000"/>
              </a:lnSpc>
              <a:spcAft>
                <a:spcPts val="800"/>
              </a:spcAft>
            </a:pPr>
            <a:r>
              <a:rPr lang="en-IN" sz="1100" b="1" u="sng" dirty="0">
                <a:ln>
                  <a:noFill/>
                </a:ln>
                <a:solidFill>
                  <a:sysClr val="windowText" lastClr="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hlinkClick r:id="rId10">
                  <a:extLst>
                    <a:ext uri="{A12FA001-AC4F-418D-AE19-62706E023703}">
                      <ahyp:hlinkClr xmlns:ahyp="http://schemas.microsoft.com/office/drawing/2018/hyperlinkcolor" val="tx"/>
                    </a:ext>
                  </a:extLst>
                </a:hlinkClick>
              </a:rPr>
              <a:t>Cardiovascular pathology for medical education - </a:t>
            </a:r>
            <a:r>
              <a:rPr lang="en-IN" sz="1100" b="1" u="sng" dirty="0" err="1">
                <a:ln>
                  <a:noFill/>
                </a:ln>
                <a:solidFill>
                  <a:sysClr val="windowText" lastClr="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hlinkClick r:id="rId10">
                  <a:extLst>
                    <a:ext uri="{A12FA001-AC4F-418D-AE19-62706E023703}">
                      <ahyp:hlinkClr xmlns:ahyp="http://schemas.microsoft.com/office/drawing/2018/hyperlinkcolor" val="tx"/>
                    </a:ext>
                  </a:extLst>
                </a:hlinkClick>
              </a:rPr>
              <a:t>WebPath</a:t>
            </a:r>
            <a:r>
              <a:rPr lang="en-IN" sz="1100" b="1" u="sng" dirty="0">
                <a:ln>
                  <a:noFill/>
                </a:ln>
                <a:solidFill>
                  <a:sysClr val="windowText" lastClr="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hlinkClick r:id="rId10">
                  <a:extLst>
                    <a:ext uri="{A12FA001-AC4F-418D-AE19-62706E023703}">
                      <ahyp:hlinkClr xmlns:ahyp="http://schemas.microsoft.com/office/drawing/2018/hyperlinkcolor" val="tx"/>
                    </a:ext>
                  </a:extLst>
                </a:hlinkClick>
              </a:rPr>
              <a:t> (utah.edu)</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gn="just">
              <a:lnSpc>
                <a:spcPct val="107000"/>
              </a:lnSpc>
              <a:spcAft>
                <a:spcPts val="800"/>
              </a:spcAft>
            </a:pPr>
            <a:r>
              <a:rPr lang="en-IN" sz="1100" b="1" u="sng" dirty="0">
                <a:ln>
                  <a:noFill/>
                </a:ln>
                <a:solidFill>
                  <a:sysClr val="windowText" lastClr="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hlinkClick r:id="rId11">
                  <a:extLst>
                    <a:ext uri="{A12FA001-AC4F-418D-AE19-62706E023703}">
                      <ahyp:hlinkClr xmlns:ahyp="http://schemas.microsoft.com/office/drawing/2018/hyperlinkcolor" val="tx"/>
                    </a:ext>
                  </a:extLst>
                </a:hlinkClick>
              </a:rPr>
              <a:t>Emergency Medical Technician (EMT) (gemr.org)</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gn="just">
              <a:lnSpc>
                <a:spcPct val="107000"/>
              </a:lnSpc>
              <a:spcAft>
                <a:spcPts val="800"/>
              </a:spcAft>
            </a:pPr>
            <a:r>
              <a:rPr lang="en-IN" sz="1100" b="1" u="sng" dirty="0">
                <a:ln>
                  <a:noFill/>
                </a:ln>
                <a:solidFill>
                  <a:sysClr val="windowText" lastClr="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hlinkClick r:id="rId12">
                  <a:extLst>
                    <a:ext uri="{A12FA001-AC4F-418D-AE19-62706E023703}">
                      <ahyp:hlinkClr xmlns:ahyp="http://schemas.microsoft.com/office/drawing/2018/hyperlinkcolor" val="tx"/>
                    </a:ext>
                  </a:extLst>
                </a:hlinkClick>
              </a:rPr>
              <a:t>IT and Laboratory Information Management Systems (LIMS) (rcpath.org)</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gn="just">
              <a:lnSpc>
                <a:spcPct val="107000"/>
              </a:lnSpc>
              <a:spcAft>
                <a:spcPts val="800"/>
              </a:spcAft>
            </a:pPr>
            <a:r>
              <a:rPr lang="en-IN" sz="1100" b="1" u="sng" dirty="0">
                <a:ln>
                  <a:noFill/>
                </a:ln>
                <a:solidFill>
                  <a:sysClr val="windowText" lastClr="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hlinkClick r:id="rId13">
                  <a:extLst>
                    <a:ext uri="{A12FA001-AC4F-418D-AE19-62706E023703}">
                      <ahyp:hlinkClr xmlns:ahyp="http://schemas.microsoft.com/office/drawing/2018/hyperlinkcolor" val="tx"/>
                    </a:ext>
                  </a:extLst>
                </a:hlinkClick>
              </a:rPr>
              <a:t>https://www.saksoft.com/healthcare/</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gn="just">
              <a:lnSpc>
                <a:spcPct val="107000"/>
              </a:lnSpc>
              <a:spcAft>
                <a:spcPts val="800"/>
              </a:spcAft>
            </a:pPr>
            <a:r>
              <a:rPr lang="en-IN" sz="1100" b="1" u="sng" dirty="0">
                <a:ln>
                  <a:noFill/>
                </a:ln>
                <a:solidFill>
                  <a:sysClr val="windowText" lastClr="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hlinkClick r:id="rId2">
                  <a:extLst>
                    <a:ext uri="{A12FA001-AC4F-418D-AE19-62706E023703}">
                      <ahyp:hlinkClr xmlns:ahyp="http://schemas.microsoft.com/office/drawing/2018/hyperlinkcolor" val="tx"/>
                    </a:ext>
                  </a:extLst>
                </a:hlinkClick>
              </a:rPr>
              <a:t>https://blog.cdw.com/digital-workspace/5-ways-can-improve-clinician-experience-patient-care</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gn="just">
              <a:lnSpc>
                <a:spcPct val="107000"/>
              </a:lnSpc>
              <a:spcAft>
                <a:spcPts val="800"/>
              </a:spcAft>
            </a:pPr>
            <a:r>
              <a:rPr lang="en-IN" sz="1100" b="1" u="none" strike="noStrike" dirty="0">
                <a:ln>
                  <a:noFill/>
                </a:ln>
                <a:solidFill>
                  <a:sysClr val="windowText" lastClr="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rPr>
              <a:t> </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gn="just">
              <a:lnSpc>
                <a:spcPct val="107000"/>
              </a:lnSpc>
              <a:spcAft>
                <a:spcPts val="800"/>
              </a:spcAft>
            </a:pPr>
            <a:r>
              <a:rPr lang="en-IN" sz="1100" b="1" u="sng" dirty="0">
                <a:ln>
                  <a:noFill/>
                </a:ln>
                <a:solidFill>
                  <a:sysClr val="windowText" lastClr="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hlinkClick r:id="rId14">
                  <a:extLst>
                    <a:ext uri="{A12FA001-AC4F-418D-AE19-62706E023703}">
                      <ahyp:hlinkClr xmlns:ahyp="http://schemas.microsoft.com/office/drawing/2018/hyperlinkcolor" val="tx"/>
                    </a:ext>
                  </a:extLst>
                </a:hlinkClick>
              </a:rPr>
              <a:t>https://www.cdw.com/content/cdw/en/solutions/digital-transformation/digital-transformation-in-healthcare.html#:~:text=CDW%20can%20orchestrate%20a%20digital,and%20cost%2Deffective%20healthcare%20facility</a:t>
            </a:r>
            <a:r>
              <a:rPr lang="en-IN" sz="1100" b="1" u="sng" dirty="0">
                <a:ln>
                  <a:noFill/>
                </a:ln>
                <a:solidFill>
                  <a:sysClr val="windowText" lastClr="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rPr>
              <a:t>.</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gn="just">
              <a:lnSpc>
                <a:spcPct val="107000"/>
              </a:lnSpc>
              <a:spcAft>
                <a:spcPts val="800"/>
              </a:spcAft>
            </a:pPr>
            <a:r>
              <a:rPr lang="en-IN" sz="1100" b="1" u="none" strike="noStrike" dirty="0">
                <a:ln>
                  <a:noFill/>
                </a:ln>
                <a:solidFill>
                  <a:sysClr val="windowText" lastClr="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rPr>
              <a:t> </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gn="just">
              <a:lnSpc>
                <a:spcPct val="107000"/>
              </a:lnSpc>
              <a:spcAft>
                <a:spcPts val="800"/>
              </a:spcAft>
            </a:pPr>
            <a:r>
              <a:rPr lang="en-IN" sz="1100" b="1" u="sng" dirty="0">
                <a:ln>
                  <a:noFill/>
                </a:ln>
                <a:solidFill>
                  <a:sysClr val="windowText" lastClr="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Mangal" panose="02040503050203030202" pitchFamily="18" charset="0"/>
                <a:hlinkClick r:id="rId15">
                  <a:extLst>
                    <a:ext uri="{A12FA001-AC4F-418D-AE19-62706E023703}">
                      <ahyp:hlinkClr xmlns:ahyp="http://schemas.microsoft.com/office/drawing/2018/hyperlinkcolor" val="tx"/>
                    </a:ext>
                  </a:extLst>
                </a:hlinkClick>
              </a:rPr>
              <a:t>Patient-centric implementation of an electronic medication management system at a tertiary hospital in Western Sydney | BMJ Health &amp; Care Informatics</a:t>
            </a:r>
            <a:endParaRPr lang="en-IN" sz="11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US" sz="24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a:t>
            </a:r>
            <a:endParaRPr lang="en-IN"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2858895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176AC6-BBFE-4ECD-B4EF-8085AF75D5ED}"/>
              </a:ext>
            </a:extLst>
          </p:cNvPr>
          <p:cNvSpPr txBox="1"/>
          <p:nvPr/>
        </p:nvSpPr>
        <p:spPr>
          <a:xfrm>
            <a:off x="3161896" y="2581396"/>
            <a:ext cx="6102926" cy="847604"/>
          </a:xfrm>
          <a:prstGeom prst="rect">
            <a:avLst/>
          </a:prstGeom>
          <a:noFill/>
        </p:spPr>
        <p:txBody>
          <a:bodyPr wrap="square">
            <a:spAutoFit/>
          </a:bodyPr>
          <a:lstStyle/>
          <a:p>
            <a:pPr lvl="0" algn="ctr">
              <a:lnSpc>
                <a:spcPct val="107000"/>
              </a:lnSpc>
              <a:spcAft>
                <a:spcPts val="800"/>
              </a:spcAft>
            </a:pPr>
            <a:r>
              <a:rPr lang="en-US" sz="48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OVERALL DESCRIPTION</a:t>
            </a:r>
            <a:endParaRPr lang="en-IN" sz="4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4217657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3C02E8-2570-40CF-98C7-2C3E18371A6C}"/>
              </a:ext>
            </a:extLst>
          </p:cNvPr>
          <p:cNvSpPr txBox="1"/>
          <p:nvPr/>
        </p:nvSpPr>
        <p:spPr>
          <a:xfrm>
            <a:off x="3248724" y="1202336"/>
            <a:ext cx="6102926" cy="646331"/>
          </a:xfrm>
          <a:prstGeom prst="rect">
            <a:avLst/>
          </a:prstGeom>
          <a:noFill/>
        </p:spPr>
        <p:txBody>
          <a:bodyPr wrap="square">
            <a:spAutoFit/>
          </a:bodyPr>
          <a:lstStyle/>
          <a:p>
            <a:pPr algn="ctr"/>
            <a:r>
              <a:rPr lang="en-US" sz="36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PRODUCT PERSPECTIVE</a:t>
            </a:r>
            <a:endParaRPr lang="en-IN" sz="3600" dirty="0">
              <a:solidFill>
                <a:sysClr val="windowText" lastClr="000000"/>
              </a:solidFill>
            </a:endParaRPr>
          </a:p>
        </p:txBody>
      </p:sp>
      <p:sp>
        <p:nvSpPr>
          <p:cNvPr id="5" name="TextBox 4">
            <a:extLst>
              <a:ext uri="{FF2B5EF4-FFF2-40B4-BE49-F238E27FC236}">
                <a16:creationId xmlns:a16="http://schemas.microsoft.com/office/drawing/2014/main" id="{60DDF5E4-E07D-460A-81CC-D974CF5B9063}"/>
              </a:ext>
            </a:extLst>
          </p:cNvPr>
          <p:cNvSpPr txBox="1"/>
          <p:nvPr/>
        </p:nvSpPr>
        <p:spPr>
          <a:xfrm>
            <a:off x="2700257" y="2867040"/>
            <a:ext cx="7944069" cy="1561005"/>
          </a:xfrm>
          <a:prstGeom prst="rect">
            <a:avLst/>
          </a:prstGeom>
          <a:noFill/>
        </p:spPr>
        <p:txBody>
          <a:bodyPr wrap="square">
            <a:spAutoFit/>
          </a:bodyPr>
          <a:lstStyle/>
          <a:p>
            <a:pPr>
              <a:lnSpc>
                <a:spcPct val="107000"/>
              </a:lnSpc>
              <a:spcAft>
                <a:spcPts val="800"/>
              </a:spcAft>
            </a:pPr>
            <a:r>
              <a:rPr lang="en-US"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This application will not only help the citizens but it will also help to make independent society by providing high quality health care to all. It will help them to detect their health issue, to do routine check up whenever they want by taking an appointment through their phone. The administrative will be linked to one another and their health details will be all secure in this application. </a:t>
            </a:r>
            <a:endParaRPr lang="en-IN" sz="14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2956679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C14EF0-05BD-4A79-9BEF-2A39305418FA}"/>
              </a:ext>
            </a:extLst>
          </p:cNvPr>
          <p:cNvSpPr txBox="1"/>
          <p:nvPr/>
        </p:nvSpPr>
        <p:spPr>
          <a:xfrm>
            <a:off x="3339047" y="1409441"/>
            <a:ext cx="6102926" cy="646331"/>
          </a:xfrm>
          <a:prstGeom prst="rect">
            <a:avLst/>
          </a:prstGeom>
          <a:noFill/>
        </p:spPr>
        <p:txBody>
          <a:bodyPr wrap="square">
            <a:spAutoFit/>
          </a:bodyPr>
          <a:lstStyle/>
          <a:p>
            <a:pPr algn="ctr"/>
            <a:r>
              <a:rPr lang="en-US" sz="36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PRODUCT FEATURES</a:t>
            </a:r>
            <a:endParaRPr lang="en-IN" sz="3600" dirty="0">
              <a:solidFill>
                <a:sysClr val="windowText" lastClr="000000"/>
              </a:solidFill>
            </a:endParaRPr>
          </a:p>
        </p:txBody>
      </p:sp>
      <p:sp>
        <p:nvSpPr>
          <p:cNvPr id="5" name="TextBox 4">
            <a:extLst>
              <a:ext uri="{FF2B5EF4-FFF2-40B4-BE49-F238E27FC236}">
                <a16:creationId xmlns:a16="http://schemas.microsoft.com/office/drawing/2014/main" id="{37C144F4-D2E6-4349-8145-FC628CFA4B9C}"/>
              </a:ext>
            </a:extLst>
          </p:cNvPr>
          <p:cNvSpPr txBox="1"/>
          <p:nvPr/>
        </p:nvSpPr>
        <p:spPr>
          <a:xfrm>
            <a:off x="1830246" y="2739352"/>
            <a:ext cx="9621948" cy="1857368"/>
          </a:xfrm>
          <a:prstGeom prst="rect">
            <a:avLst/>
          </a:prstGeom>
          <a:noFill/>
        </p:spPr>
        <p:txBody>
          <a:bodyPr wrap="square">
            <a:spAutoFit/>
          </a:bodyPr>
          <a:lstStyle/>
          <a:p>
            <a:pPr>
              <a:lnSpc>
                <a:spcPct val="107000"/>
              </a:lnSpc>
              <a:spcAft>
                <a:spcPts val="800"/>
              </a:spcAft>
            </a:pPr>
            <a:r>
              <a:rPr lang="en-US"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Our application has exceptional features which will bring tremendous effects in people life. It has features like Artificial Intelligence, Machine Learning, Deep Learning and Neuro Network Assisting in the development of technology learning by making it interesting tools to output. E- health may enhance the quality of health care by allowing comparisons between different providers, involving additional power to consumers for quality assurance and directing patients to the best quality providers.</a:t>
            </a:r>
            <a:endParaRPr lang="en-IN" sz="14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639218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E5454F-5425-4FBA-8E84-3463207E3E9C}"/>
              </a:ext>
            </a:extLst>
          </p:cNvPr>
          <p:cNvSpPr txBox="1"/>
          <p:nvPr/>
        </p:nvSpPr>
        <p:spPr>
          <a:xfrm>
            <a:off x="3373011" y="1181352"/>
            <a:ext cx="6102926" cy="1200329"/>
          </a:xfrm>
          <a:prstGeom prst="rect">
            <a:avLst/>
          </a:prstGeom>
          <a:noFill/>
        </p:spPr>
        <p:txBody>
          <a:bodyPr wrap="square">
            <a:spAutoFit/>
          </a:bodyPr>
          <a:lstStyle/>
          <a:p>
            <a:pPr algn="ctr"/>
            <a:r>
              <a:rPr lang="en-US" sz="36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USER CLASS AND CHARACTERISTICS</a:t>
            </a:r>
            <a:endParaRPr lang="en-IN" sz="3600" dirty="0">
              <a:solidFill>
                <a:sysClr val="windowText" lastClr="000000"/>
              </a:solidFill>
            </a:endParaRPr>
          </a:p>
        </p:txBody>
      </p:sp>
      <p:sp>
        <p:nvSpPr>
          <p:cNvPr id="5" name="TextBox 4">
            <a:extLst>
              <a:ext uri="{FF2B5EF4-FFF2-40B4-BE49-F238E27FC236}">
                <a16:creationId xmlns:a16="http://schemas.microsoft.com/office/drawing/2014/main" id="{5C05B8D5-0FF8-4741-8290-D601A5473EE5}"/>
              </a:ext>
            </a:extLst>
          </p:cNvPr>
          <p:cNvSpPr txBox="1"/>
          <p:nvPr/>
        </p:nvSpPr>
        <p:spPr>
          <a:xfrm>
            <a:off x="2895565" y="3239183"/>
            <a:ext cx="7553451" cy="1200329"/>
          </a:xfrm>
          <a:prstGeom prst="rect">
            <a:avLst/>
          </a:prstGeom>
          <a:noFill/>
        </p:spPr>
        <p:txBody>
          <a:bodyPr wrap="square">
            <a:spAutoFit/>
          </a:bodyPr>
          <a:lstStyle/>
          <a:p>
            <a:r>
              <a:rPr lang="en-US"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The user of this applications can make the knowledge bases of medicines and personal electronic records accessible over the internet, E- health opens new avenues for patient centered medicine and enables patient-based medicine choice</a:t>
            </a:r>
            <a:endParaRPr lang="en-IN" dirty="0">
              <a:solidFill>
                <a:sysClr val="windowText" lastClr="000000"/>
              </a:solidFill>
            </a:endParaRPr>
          </a:p>
        </p:txBody>
      </p:sp>
    </p:spTree>
    <p:extLst>
      <p:ext uri="{BB962C8B-B14F-4D97-AF65-F5344CB8AC3E}">
        <p14:creationId xmlns:p14="http://schemas.microsoft.com/office/powerpoint/2010/main" val="30027441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56FE2B-E2F5-4FCD-89A6-BEE4F61997C2}"/>
              </a:ext>
            </a:extLst>
          </p:cNvPr>
          <p:cNvSpPr txBox="1"/>
          <p:nvPr/>
        </p:nvSpPr>
        <p:spPr>
          <a:xfrm>
            <a:off x="3228344" y="1330120"/>
            <a:ext cx="6102926" cy="646331"/>
          </a:xfrm>
          <a:prstGeom prst="rect">
            <a:avLst/>
          </a:prstGeom>
          <a:noFill/>
        </p:spPr>
        <p:txBody>
          <a:bodyPr wrap="square">
            <a:spAutoFit/>
          </a:bodyPr>
          <a:lstStyle/>
          <a:p>
            <a:pPr algn="ctr"/>
            <a:r>
              <a:rPr lang="en-US" sz="36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OPERATING ENVIRONMENT</a:t>
            </a:r>
            <a:endParaRPr lang="en-IN" sz="3600" dirty="0">
              <a:solidFill>
                <a:sysClr val="windowText" lastClr="000000"/>
              </a:solidFill>
            </a:endParaRPr>
          </a:p>
        </p:txBody>
      </p:sp>
      <p:sp>
        <p:nvSpPr>
          <p:cNvPr id="5" name="TextBox 4">
            <a:extLst>
              <a:ext uri="{FF2B5EF4-FFF2-40B4-BE49-F238E27FC236}">
                <a16:creationId xmlns:a16="http://schemas.microsoft.com/office/drawing/2014/main" id="{C5BFEA4A-AB3D-4202-874F-4CC22F1BC9C3}"/>
              </a:ext>
            </a:extLst>
          </p:cNvPr>
          <p:cNvSpPr txBox="1"/>
          <p:nvPr/>
        </p:nvSpPr>
        <p:spPr>
          <a:xfrm>
            <a:off x="2549337" y="3172281"/>
            <a:ext cx="8396830" cy="1264642"/>
          </a:xfrm>
          <a:prstGeom prst="rect">
            <a:avLst/>
          </a:prstGeom>
          <a:noFill/>
        </p:spPr>
        <p:txBody>
          <a:bodyPr wrap="square">
            <a:spAutoFit/>
          </a:bodyPr>
          <a:lstStyle/>
          <a:p>
            <a:pPr>
              <a:lnSpc>
                <a:spcPct val="107000"/>
              </a:lnSpc>
              <a:spcAft>
                <a:spcPts val="800"/>
              </a:spcAft>
            </a:pPr>
            <a:r>
              <a:rPr lang="en-US"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The user can operate this application without any difficulty. The application is a user friendly because it is being used by the people of any age group and it will guide them through our steps which they will have to follow in the application and they can meet their requirements.</a:t>
            </a:r>
            <a:endParaRPr lang="en-IN" sz="14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594456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D4F77E-0FB2-4736-BDFC-EAF15BD21C9A}"/>
              </a:ext>
            </a:extLst>
          </p:cNvPr>
          <p:cNvSpPr txBox="1"/>
          <p:nvPr/>
        </p:nvSpPr>
        <p:spPr>
          <a:xfrm>
            <a:off x="2566150" y="1421721"/>
            <a:ext cx="7572149" cy="1200329"/>
          </a:xfrm>
          <a:prstGeom prst="rect">
            <a:avLst/>
          </a:prstGeom>
          <a:noFill/>
        </p:spPr>
        <p:txBody>
          <a:bodyPr wrap="square">
            <a:spAutoFit/>
          </a:bodyPr>
          <a:lstStyle/>
          <a:p>
            <a:pPr algn="ctr"/>
            <a:r>
              <a:rPr lang="en-IN" sz="18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a:t>
            </a:r>
            <a:r>
              <a:rPr lang="en-US" sz="36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DESIGN AND IMPLEMENTATION CONSTRAINTS</a:t>
            </a:r>
            <a:endParaRPr lang="en-IN" sz="3600" dirty="0">
              <a:solidFill>
                <a:sysClr val="windowText" lastClr="000000"/>
              </a:solidFill>
            </a:endParaRPr>
          </a:p>
        </p:txBody>
      </p:sp>
      <p:sp>
        <p:nvSpPr>
          <p:cNvPr id="5" name="TextBox 4">
            <a:extLst>
              <a:ext uri="{FF2B5EF4-FFF2-40B4-BE49-F238E27FC236}">
                <a16:creationId xmlns:a16="http://schemas.microsoft.com/office/drawing/2014/main" id="{8F3798B1-1C7A-4769-A741-705CAD07D6AB}"/>
              </a:ext>
            </a:extLst>
          </p:cNvPr>
          <p:cNvSpPr txBox="1"/>
          <p:nvPr/>
        </p:nvSpPr>
        <p:spPr>
          <a:xfrm>
            <a:off x="2096575" y="3338217"/>
            <a:ext cx="9320107" cy="968278"/>
          </a:xfrm>
          <a:prstGeom prst="rect">
            <a:avLst/>
          </a:prstGeom>
          <a:noFill/>
        </p:spPr>
        <p:txBody>
          <a:bodyPr wrap="square">
            <a:spAutoFit/>
          </a:bodyPr>
          <a:lstStyle/>
          <a:p>
            <a:pPr>
              <a:lnSpc>
                <a:spcPct val="107000"/>
              </a:lnSpc>
              <a:spcAft>
                <a:spcPts val="800"/>
              </a:spcAft>
            </a:pPr>
            <a:r>
              <a:rPr lang="en-US"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All our solutions are designed by making the knowledge bases of medicines and personal electronic records accessible over the internet, E-health opens new avenues for patient centered medicine and enables patient-based medicine choice.</a:t>
            </a:r>
            <a:endParaRPr lang="en-IN" sz="14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3419703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9981F8-8AC1-4AFB-A422-B747EC7A3AD7}"/>
              </a:ext>
            </a:extLst>
          </p:cNvPr>
          <p:cNvSpPr txBox="1"/>
          <p:nvPr/>
        </p:nvSpPr>
        <p:spPr>
          <a:xfrm>
            <a:off x="3400249" y="1407463"/>
            <a:ext cx="6102926" cy="646331"/>
          </a:xfrm>
          <a:prstGeom prst="rect">
            <a:avLst/>
          </a:prstGeom>
          <a:noFill/>
        </p:spPr>
        <p:txBody>
          <a:bodyPr wrap="square">
            <a:spAutoFit/>
          </a:bodyPr>
          <a:lstStyle/>
          <a:p>
            <a:pPr algn="ctr"/>
            <a:r>
              <a:rPr lang="en-US" sz="36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ASSUMPTION DEPENDENCIES</a:t>
            </a:r>
            <a:endParaRPr lang="en-IN" sz="3600" dirty="0">
              <a:solidFill>
                <a:sysClr val="windowText" lastClr="000000"/>
              </a:solidFill>
            </a:endParaRPr>
          </a:p>
        </p:txBody>
      </p:sp>
      <p:sp>
        <p:nvSpPr>
          <p:cNvPr id="5" name="TextBox 4">
            <a:extLst>
              <a:ext uri="{FF2B5EF4-FFF2-40B4-BE49-F238E27FC236}">
                <a16:creationId xmlns:a16="http://schemas.microsoft.com/office/drawing/2014/main" id="{9F8662F4-83C5-4CB5-80FB-5DE0038B3B19}"/>
              </a:ext>
            </a:extLst>
          </p:cNvPr>
          <p:cNvSpPr txBox="1"/>
          <p:nvPr/>
        </p:nvSpPr>
        <p:spPr>
          <a:xfrm>
            <a:off x="2762400" y="2978942"/>
            <a:ext cx="7784271" cy="1663597"/>
          </a:xfrm>
          <a:prstGeom prst="rect">
            <a:avLst/>
          </a:prstGeom>
          <a:noFill/>
        </p:spPr>
        <p:txBody>
          <a:bodyPr wrap="square">
            <a:spAutoFit/>
          </a:bodyPr>
          <a:lstStyle/>
          <a:p>
            <a:pPr>
              <a:lnSpc>
                <a:spcPct val="107000"/>
              </a:lnSpc>
              <a:spcAft>
                <a:spcPts val="800"/>
              </a:spcAft>
            </a:pPr>
            <a:r>
              <a:rPr lang="en-US"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EHC provides the best in helping healthcare workers by getting them to communicate with each department for the welfare and betterment of their patients.</a:t>
            </a:r>
            <a:endParaRPr lang="en-IN" sz="14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US"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It doesn’t end there; the application will achieve a better future in treatments and the way to medicate patients.</a:t>
            </a:r>
            <a:endParaRPr lang="en-IN" sz="14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11642589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E1CADB-27BC-4AE4-99D6-800596A6F656}"/>
              </a:ext>
            </a:extLst>
          </p:cNvPr>
          <p:cNvSpPr txBox="1"/>
          <p:nvPr/>
        </p:nvSpPr>
        <p:spPr>
          <a:xfrm>
            <a:off x="3248724" y="2673053"/>
            <a:ext cx="6102926" cy="847604"/>
          </a:xfrm>
          <a:prstGeom prst="rect">
            <a:avLst/>
          </a:prstGeom>
          <a:noFill/>
        </p:spPr>
        <p:txBody>
          <a:bodyPr wrap="square">
            <a:spAutoFit/>
          </a:bodyPr>
          <a:lstStyle/>
          <a:p>
            <a:pPr lvl="0" algn="ctr">
              <a:lnSpc>
                <a:spcPct val="107000"/>
              </a:lnSpc>
              <a:spcAft>
                <a:spcPts val="800"/>
              </a:spcAft>
            </a:pPr>
            <a:r>
              <a:rPr lang="en-US" sz="48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SYSTEM FEATURES</a:t>
            </a:r>
            <a:endParaRPr lang="en-IN" sz="4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1585927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AB71B16-9955-40A4-9AF6-DD1BE4EDB957}"/>
              </a:ext>
            </a:extLst>
          </p:cNvPr>
          <p:cNvSpPr txBox="1"/>
          <p:nvPr/>
        </p:nvSpPr>
        <p:spPr>
          <a:xfrm>
            <a:off x="3486705" y="2854655"/>
            <a:ext cx="6102926" cy="1367234"/>
          </a:xfrm>
          <a:prstGeom prst="rect">
            <a:avLst/>
          </a:prstGeom>
          <a:noFill/>
        </p:spPr>
        <p:txBody>
          <a:bodyPr wrap="square">
            <a:spAutoFit/>
          </a:bodyPr>
          <a:lstStyle/>
          <a:p>
            <a:pPr>
              <a:lnSpc>
                <a:spcPct val="107000"/>
              </a:lnSpc>
              <a:spcAft>
                <a:spcPts val="800"/>
              </a:spcAft>
            </a:pPr>
            <a:r>
              <a:rPr lang="en-US" sz="18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1 </a:t>
            </a:r>
            <a:r>
              <a:rPr lang="en-US"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Home</a:t>
            </a:r>
            <a:endParaRPr lang="en-IN" sz="14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Sign in</a:t>
            </a:r>
            <a:endParaRPr lang="en-IN" sz="14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Sign up</a:t>
            </a:r>
            <a:endParaRPr lang="en-IN" sz="14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spcAft>
                <a:spcPts val="800"/>
              </a:spcAft>
              <a:buFont typeface="Symbol" panose="05050102010706020507" pitchFamily="18" charset="2"/>
              <a:buChar char=""/>
            </a:pPr>
            <a:r>
              <a:rPr lang="en-US"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Forget password</a:t>
            </a:r>
            <a:endParaRPr lang="en-IN" sz="14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
        <p:nvSpPr>
          <p:cNvPr id="9" name="TextBox 8">
            <a:extLst>
              <a:ext uri="{FF2B5EF4-FFF2-40B4-BE49-F238E27FC236}">
                <a16:creationId xmlns:a16="http://schemas.microsoft.com/office/drawing/2014/main" id="{6AF5C4A1-15E1-483B-8985-2B80A6D73CF6}"/>
              </a:ext>
            </a:extLst>
          </p:cNvPr>
          <p:cNvSpPr txBox="1"/>
          <p:nvPr/>
        </p:nvSpPr>
        <p:spPr>
          <a:xfrm>
            <a:off x="3486705" y="1414642"/>
            <a:ext cx="6103398" cy="658835"/>
          </a:xfrm>
          <a:prstGeom prst="rect">
            <a:avLst/>
          </a:prstGeom>
          <a:noFill/>
        </p:spPr>
        <p:txBody>
          <a:bodyPr wrap="square">
            <a:spAutoFit/>
          </a:bodyPr>
          <a:lstStyle/>
          <a:p>
            <a:pPr>
              <a:lnSpc>
                <a:spcPct val="107000"/>
              </a:lnSpc>
              <a:spcAft>
                <a:spcPts val="800"/>
              </a:spcAft>
            </a:pPr>
            <a:r>
              <a:rPr lang="en-US" sz="36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FUNCTIONAL REQUIREMENTS</a:t>
            </a:r>
            <a:endParaRPr lang="en-IN" sz="3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25963066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8A75B6-40C4-4546-91B6-CC18E23F6825}"/>
              </a:ext>
            </a:extLst>
          </p:cNvPr>
          <p:cNvSpPr txBox="1"/>
          <p:nvPr/>
        </p:nvSpPr>
        <p:spPr>
          <a:xfrm>
            <a:off x="2920250" y="795335"/>
            <a:ext cx="6102926" cy="4927439"/>
          </a:xfrm>
          <a:prstGeom prst="rect">
            <a:avLst/>
          </a:prstGeom>
          <a:noFill/>
        </p:spPr>
        <p:txBody>
          <a:bodyPr wrap="square">
            <a:spAutoFit/>
          </a:bodyPr>
          <a:lstStyle/>
          <a:p>
            <a:pPr algn="ctr">
              <a:lnSpc>
                <a:spcPct val="107000"/>
              </a:lnSpc>
              <a:spcAft>
                <a:spcPts val="800"/>
              </a:spcAft>
            </a:pPr>
            <a:r>
              <a:rPr lang="en-US" sz="2400" u="sng"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AMBULANCE ADMIN DATABASE:-</a:t>
            </a:r>
          </a:p>
          <a:p>
            <a:pPr algn="ctr">
              <a:lnSpc>
                <a:spcPct val="107000"/>
              </a:lnSpc>
              <a:spcAft>
                <a:spcPts val="800"/>
              </a:spcAft>
            </a:pPr>
            <a:endParaRPr lang="en-IN" sz="24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Company registration</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Ambulance – </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07000"/>
              </a:lnSpc>
              <a:buFont typeface="Courier New" panose="02070309020205020404" pitchFamily="49" charset="0"/>
              <a:buChar char="o"/>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Ambulance details</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07000"/>
              </a:lnSpc>
              <a:buFont typeface="Courier New" panose="02070309020205020404" pitchFamily="49" charset="0"/>
              <a:buChar char="o"/>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Add new ambulance</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Staff- </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07000"/>
              </a:lnSpc>
              <a:buFont typeface="Courier New" panose="02070309020205020404" pitchFamily="49" charset="0"/>
              <a:buChar char="o"/>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Staff details</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07000"/>
              </a:lnSpc>
              <a:buFont typeface="Courier New" panose="02070309020205020404" pitchFamily="49" charset="0"/>
              <a:buChar char="o"/>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Add new staff</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Locate ambulance</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Trip history</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Notification</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Chat</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My profile</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spcAft>
                <a:spcPts val="800"/>
              </a:spcAft>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Log out</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23931790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AC7301-4F94-459C-807C-15AAF365C101}"/>
              </a:ext>
            </a:extLst>
          </p:cNvPr>
          <p:cNvSpPr txBox="1"/>
          <p:nvPr/>
        </p:nvSpPr>
        <p:spPr>
          <a:xfrm>
            <a:off x="3170775" y="1525850"/>
            <a:ext cx="6102926" cy="3536802"/>
          </a:xfrm>
          <a:prstGeom prst="rect">
            <a:avLst/>
          </a:prstGeom>
          <a:noFill/>
        </p:spPr>
        <p:txBody>
          <a:bodyPr wrap="square">
            <a:spAutoFit/>
          </a:bodyPr>
          <a:lstStyle/>
          <a:p>
            <a:pPr marL="457200" algn="ctr">
              <a:lnSpc>
                <a:spcPct val="107000"/>
              </a:lnSpc>
            </a:pPr>
            <a:r>
              <a:rPr lang="en-US" sz="2400" u="sng"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AMBULANCE DASHBOARD DATABASE:-</a:t>
            </a:r>
          </a:p>
          <a:p>
            <a:pPr marL="457200" algn="ctr">
              <a:lnSpc>
                <a:spcPct val="107000"/>
              </a:lnSpc>
            </a:pPr>
            <a:endParaRPr lang="en-IN" sz="24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457200">
              <a:lnSpc>
                <a:spcPct val="107000"/>
              </a:lnSpc>
            </a:pPr>
            <a:r>
              <a:rPr lang="en-US" sz="1800" u="none" strike="noStrike"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a:t>
            </a:r>
            <a:endParaRPr lang="en-IN" sz="14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Manual booking</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Complain</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Locate ambulance</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Trip history</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Notification</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Chat</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My profile</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spcAft>
                <a:spcPts val="800"/>
              </a:spcAft>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Log out</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14771425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DDC732B-6D44-4A8F-BD16-7B7C7C37CF9A}"/>
              </a:ext>
            </a:extLst>
          </p:cNvPr>
          <p:cNvSpPr txBox="1"/>
          <p:nvPr/>
        </p:nvSpPr>
        <p:spPr>
          <a:xfrm>
            <a:off x="1407968" y="926764"/>
            <a:ext cx="9010650" cy="5291000"/>
          </a:xfrm>
          <a:prstGeom prst="rect">
            <a:avLst/>
          </a:prstGeom>
          <a:noFill/>
        </p:spPr>
        <p:txBody>
          <a:bodyPr wrap="square">
            <a:spAutoFit/>
          </a:bodyPr>
          <a:lstStyle/>
          <a:p>
            <a:pPr algn="ctr">
              <a:lnSpc>
                <a:spcPct val="107000"/>
              </a:lnSpc>
              <a:spcAft>
                <a:spcPts val="800"/>
              </a:spcAft>
            </a:pPr>
            <a:r>
              <a:rPr lang="en-US" sz="2400" u="sng"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PATIENT / CUSTOMER:-</a:t>
            </a:r>
          </a:p>
          <a:p>
            <a:pPr algn="ctr">
              <a:lnSpc>
                <a:spcPct val="107000"/>
              </a:lnSpc>
              <a:spcAft>
                <a:spcPts val="800"/>
              </a:spcAft>
            </a:pPr>
            <a:endParaRPr lang="en-IN" sz="24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IN" sz="20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HEADER</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IN"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Health product </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IN"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Medicine</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IN"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Diagnostics </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IN"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Book Appointment </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IN"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Ambulance </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IN"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Log In/Sign Up </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IN"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@UserName </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457200">
              <a:lnSpc>
                <a:spcPct val="107000"/>
              </a:lnSpc>
              <a:spcAft>
                <a:spcPts val="800"/>
              </a:spcAft>
            </a:pPr>
            <a:r>
              <a:rPr lang="en-IN"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My profile ○ Orders ○ Billing History ○ Diagnostic History ○ Appointment history ○ Log Out </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IN"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Cart</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39211338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77F958-9C2D-4FED-8BFA-4CEC474C7CDC}"/>
              </a:ext>
            </a:extLst>
          </p:cNvPr>
          <p:cNvSpPr txBox="1"/>
          <p:nvPr/>
        </p:nvSpPr>
        <p:spPr>
          <a:xfrm>
            <a:off x="3037609" y="1116604"/>
            <a:ext cx="6102926" cy="4624792"/>
          </a:xfrm>
          <a:prstGeom prst="rect">
            <a:avLst/>
          </a:prstGeom>
          <a:noFill/>
        </p:spPr>
        <p:txBody>
          <a:bodyPr wrap="square">
            <a:spAutoFit/>
          </a:bodyPr>
          <a:lstStyle/>
          <a:p>
            <a:pPr>
              <a:lnSpc>
                <a:spcPct val="107000"/>
              </a:lnSpc>
              <a:spcAft>
                <a:spcPts val="800"/>
              </a:spcAft>
            </a:pPr>
            <a:r>
              <a:rPr lang="en-IN" sz="20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FOOTER</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IN" sz="20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a:t>
            </a:r>
            <a:r>
              <a:rPr lang="en-IN"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Company </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457200">
              <a:lnSpc>
                <a:spcPct val="107000"/>
              </a:lnSpc>
              <a:spcAft>
                <a:spcPts val="800"/>
              </a:spcAft>
            </a:pPr>
            <a:r>
              <a:rPr lang="en-IN"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About EHC ○ Contact ○ Career ○ Blog ○ Investment </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IN"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Our service ○ Health product </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457200">
              <a:lnSpc>
                <a:spcPct val="107000"/>
              </a:lnSpc>
              <a:spcAft>
                <a:spcPts val="800"/>
              </a:spcAft>
            </a:pPr>
            <a:r>
              <a:rPr lang="en-IN"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Medicine ○ Diagnostics ○ Book Appointment ○ Ambulance</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IN"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Help ○ FAQ ○ Return policy ○ Terms and conditions ○ Privacy policy ○ Feedback </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IN"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Categories (Categories Needed) </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IN"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Follow us </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IN"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Payment Partner</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9274999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2DA050-C7DD-47F9-9650-9F7F86E1D5A5}"/>
              </a:ext>
            </a:extLst>
          </p:cNvPr>
          <p:cNvSpPr txBox="1"/>
          <p:nvPr/>
        </p:nvSpPr>
        <p:spPr>
          <a:xfrm>
            <a:off x="3037609" y="1796181"/>
            <a:ext cx="6102926" cy="3265638"/>
          </a:xfrm>
          <a:prstGeom prst="rect">
            <a:avLst/>
          </a:prstGeom>
          <a:noFill/>
        </p:spPr>
        <p:txBody>
          <a:bodyPr wrap="square">
            <a:spAutoFit/>
          </a:bodyPr>
          <a:lstStyle/>
          <a:p>
            <a:pPr>
              <a:lnSpc>
                <a:spcPct val="107000"/>
              </a:lnSpc>
              <a:spcAft>
                <a:spcPts val="800"/>
              </a:spcAft>
            </a:pPr>
            <a:r>
              <a:rPr lang="en-IN" sz="20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SIDEBAR</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IN" sz="20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 </a:t>
            </a:r>
            <a:r>
              <a:rPr lang="en-IN"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Blood bank </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IN"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Locate Hospital </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IN"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Physio/ Gym </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IN"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Feedback </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IN" sz="1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Caregiver</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US" sz="2000" u="none" strike="noStrike"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a:t>
            </a:r>
            <a:endParaRPr lang="en-IN" sz="1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27805007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B7634B-EB49-4EC9-87E8-49AF7C664B5F}"/>
              </a:ext>
            </a:extLst>
          </p:cNvPr>
          <p:cNvSpPr txBox="1"/>
          <p:nvPr/>
        </p:nvSpPr>
        <p:spPr>
          <a:xfrm>
            <a:off x="3044537" y="1110493"/>
            <a:ext cx="6102926" cy="4927439"/>
          </a:xfrm>
          <a:prstGeom prst="rect">
            <a:avLst/>
          </a:prstGeom>
          <a:noFill/>
        </p:spPr>
        <p:txBody>
          <a:bodyPr wrap="square">
            <a:spAutoFit/>
          </a:bodyPr>
          <a:lstStyle/>
          <a:p>
            <a:pPr algn="ctr">
              <a:lnSpc>
                <a:spcPct val="107000"/>
              </a:lnSpc>
              <a:spcAft>
                <a:spcPts val="800"/>
              </a:spcAft>
            </a:pPr>
            <a:r>
              <a:rPr lang="en-US" sz="2400" u="sng"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BLOOD BANK</a:t>
            </a:r>
          </a:p>
          <a:p>
            <a:pPr algn="ctr">
              <a:lnSpc>
                <a:spcPct val="107000"/>
              </a:lnSpc>
              <a:spcAft>
                <a:spcPts val="800"/>
              </a:spcAft>
            </a:pPr>
            <a:endParaRPr lang="en-IN" sz="24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Company</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07000"/>
              </a:lnSpc>
              <a:buFont typeface="Courier New" panose="02070309020205020404" pitchFamily="49" charset="0"/>
              <a:buChar char="o"/>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Company details</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07000"/>
              </a:lnSpc>
              <a:buFont typeface="Courier New" panose="02070309020205020404" pitchFamily="49" charset="0"/>
              <a:buChar char="o"/>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Company registration</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Donor</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07000"/>
              </a:lnSpc>
              <a:buFont typeface="Courier New" panose="02070309020205020404" pitchFamily="49" charset="0"/>
              <a:buChar char="o"/>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Donor details</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07000"/>
              </a:lnSpc>
              <a:buFont typeface="Courier New" panose="02070309020205020404" pitchFamily="49" charset="0"/>
              <a:buChar char="o"/>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Register new donor</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Inventory</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ERP</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CRM</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Notification</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Chat</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My profile</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spcAft>
                <a:spcPts val="800"/>
              </a:spcAft>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Log out</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35470094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430B32-0891-4DF2-B189-59D2314CDCBA}"/>
              </a:ext>
            </a:extLst>
          </p:cNvPr>
          <p:cNvSpPr txBox="1"/>
          <p:nvPr/>
        </p:nvSpPr>
        <p:spPr>
          <a:xfrm>
            <a:off x="3044537" y="1108369"/>
            <a:ext cx="6102926" cy="4425892"/>
          </a:xfrm>
          <a:prstGeom prst="rect">
            <a:avLst/>
          </a:prstGeom>
          <a:noFill/>
        </p:spPr>
        <p:txBody>
          <a:bodyPr wrap="square">
            <a:spAutoFit/>
          </a:bodyPr>
          <a:lstStyle/>
          <a:p>
            <a:pPr marL="457200" algn="ctr">
              <a:lnSpc>
                <a:spcPct val="107000"/>
              </a:lnSpc>
            </a:pPr>
            <a:r>
              <a:rPr lang="en-US" sz="2400" u="sng"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DOCTOR DASHBOARD</a:t>
            </a:r>
          </a:p>
          <a:p>
            <a:pPr marL="457200" algn="ctr">
              <a:lnSpc>
                <a:spcPct val="107000"/>
              </a:lnSpc>
            </a:pPr>
            <a:endParaRPr lang="en-IN" sz="24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Chamber</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07000"/>
              </a:lnSpc>
              <a:buFont typeface="Courier New" panose="02070309020205020404" pitchFamily="49" charset="0"/>
              <a:buChar char="o"/>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Chamber details</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07000"/>
              </a:lnSpc>
              <a:buFont typeface="Courier New" panose="02070309020205020404" pitchFamily="49" charset="0"/>
              <a:buChar char="o"/>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Add new chamber</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Patient history</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Visit outside patient</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Analytics</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Emergency</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Machine diagnostics</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Notification</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Chat</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My profile</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spcAft>
                <a:spcPts val="800"/>
              </a:spcAft>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Log out</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4756566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253457-46EA-4572-A1DD-DF525255D603}"/>
              </a:ext>
            </a:extLst>
          </p:cNvPr>
          <p:cNvSpPr txBox="1"/>
          <p:nvPr/>
        </p:nvSpPr>
        <p:spPr>
          <a:xfrm>
            <a:off x="2975465" y="558262"/>
            <a:ext cx="6102926" cy="5018618"/>
          </a:xfrm>
          <a:prstGeom prst="rect">
            <a:avLst/>
          </a:prstGeom>
          <a:noFill/>
        </p:spPr>
        <p:txBody>
          <a:bodyPr wrap="square">
            <a:spAutoFit/>
          </a:bodyPr>
          <a:lstStyle/>
          <a:p>
            <a:pPr marL="457200" algn="ctr">
              <a:lnSpc>
                <a:spcPct val="107000"/>
              </a:lnSpc>
            </a:pPr>
            <a:r>
              <a:rPr lang="en-US" sz="2400" u="sng"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PHARMACY ADMIN</a:t>
            </a:r>
          </a:p>
          <a:p>
            <a:pPr marL="457200" algn="ctr">
              <a:lnSpc>
                <a:spcPct val="107000"/>
              </a:lnSpc>
            </a:pPr>
            <a:endParaRPr lang="en-IN" sz="24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Pharmacy</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07000"/>
              </a:lnSpc>
              <a:buFont typeface="Courier New" panose="02070309020205020404" pitchFamily="49" charset="0"/>
              <a:buChar char="o"/>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Pharmacy details</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07000"/>
              </a:lnSpc>
              <a:buFont typeface="Courier New" panose="02070309020205020404" pitchFamily="49" charset="0"/>
              <a:buChar char="o"/>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Add new pharmacy</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Staff</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07000"/>
              </a:lnSpc>
              <a:buFont typeface="Courier New" panose="02070309020205020404" pitchFamily="49" charset="0"/>
              <a:buChar char="o"/>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Staff details</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742950" lvl="1" indent="-285750">
              <a:lnSpc>
                <a:spcPct val="107000"/>
              </a:lnSpc>
              <a:buFont typeface="Courier New" panose="02070309020205020404" pitchFamily="49" charset="0"/>
              <a:buChar char="o"/>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Add new staff</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Transaction history</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Logistics</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Analytics</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Complaints</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Notification</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Chat</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My profile</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spcAft>
                <a:spcPts val="800"/>
              </a:spcAft>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Log out</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5684456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BDC8BA-1D88-4E89-881A-23F45F4DF520}"/>
              </a:ext>
            </a:extLst>
          </p:cNvPr>
          <p:cNvSpPr txBox="1"/>
          <p:nvPr/>
        </p:nvSpPr>
        <p:spPr>
          <a:xfrm>
            <a:off x="3044537" y="1312939"/>
            <a:ext cx="6102926" cy="4232121"/>
          </a:xfrm>
          <a:prstGeom prst="rect">
            <a:avLst/>
          </a:prstGeom>
          <a:noFill/>
        </p:spPr>
        <p:txBody>
          <a:bodyPr wrap="square">
            <a:spAutoFit/>
          </a:bodyPr>
          <a:lstStyle/>
          <a:p>
            <a:pPr marL="457200" algn="ctr">
              <a:lnSpc>
                <a:spcPct val="107000"/>
              </a:lnSpc>
            </a:pPr>
            <a:r>
              <a:rPr lang="en-US" sz="2400" u="sng"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PHARMACY DASHBOARD</a:t>
            </a:r>
          </a:p>
          <a:p>
            <a:pPr marL="457200" algn="ctr">
              <a:lnSpc>
                <a:spcPct val="107000"/>
              </a:lnSpc>
            </a:pPr>
            <a:endParaRPr lang="en-IN" sz="24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Confirm order</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Offline order</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Order history</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Logistics</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Analytics</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Complaint</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Notification</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Chat</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My profile</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spcAft>
                <a:spcPts val="800"/>
              </a:spcAft>
              <a:buFont typeface="Symbol" panose="05050102010706020507" pitchFamily="18" charset="2"/>
              <a:buChar char=""/>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Log out</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US" sz="18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 </a:t>
            </a:r>
            <a:endParaRPr lang="en-IN" sz="14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13942702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A272FF-746D-406E-B92D-485BCBD54296}"/>
              </a:ext>
            </a:extLst>
          </p:cNvPr>
          <p:cNvSpPr txBox="1"/>
          <p:nvPr/>
        </p:nvSpPr>
        <p:spPr>
          <a:xfrm>
            <a:off x="2984746" y="815199"/>
            <a:ext cx="7304473" cy="658835"/>
          </a:xfrm>
          <a:prstGeom prst="rect">
            <a:avLst/>
          </a:prstGeom>
          <a:noFill/>
        </p:spPr>
        <p:txBody>
          <a:bodyPr wrap="square">
            <a:spAutoFit/>
          </a:bodyPr>
          <a:lstStyle/>
          <a:p>
            <a:pPr algn="ctr">
              <a:lnSpc>
                <a:spcPct val="107000"/>
              </a:lnSpc>
              <a:spcAft>
                <a:spcPts val="800"/>
              </a:spcAft>
            </a:pPr>
            <a:r>
              <a:rPr lang="en-US" sz="36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SOFTWARE QUALITY ATTRIBUTES</a:t>
            </a:r>
            <a:endParaRPr lang="en-IN" sz="36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
        <p:nvSpPr>
          <p:cNvPr id="5" name="TextBox 4">
            <a:extLst>
              <a:ext uri="{FF2B5EF4-FFF2-40B4-BE49-F238E27FC236}">
                <a16:creationId xmlns:a16="http://schemas.microsoft.com/office/drawing/2014/main" id="{A8331AE6-9D23-4265-BEE9-D1F1EC810F7F}"/>
              </a:ext>
            </a:extLst>
          </p:cNvPr>
          <p:cNvSpPr txBox="1"/>
          <p:nvPr/>
        </p:nvSpPr>
        <p:spPr>
          <a:xfrm>
            <a:off x="2673624" y="2484638"/>
            <a:ext cx="8094989" cy="2450094"/>
          </a:xfrm>
          <a:prstGeom prst="rect">
            <a:avLst/>
          </a:prstGeom>
          <a:noFill/>
        </p:spPr>
        <p:txBody>
          <a:bodyPr wrap="square">
            <a:spAutoFit/>
          </a:bodyPr>
          <a:lstStyle/>
          <a:p>
            <a:pPr>
              <a:lnSpc>
                <a:spcPct val="107000"/>
              </a:lnSpc>
              <a:spcAft>
                <a:spcPts val="800"/>
              </a:spcAft>
            </a:pPr>
            <a:r>
              <a:rPr lang="en-US"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With the world turning digital, it is immensely important for the most chief sector (health care) to serve technically. Keeping this in view, EHC has been initiated to eliminate all the health-related hurdles. EHC serves as a one stop medical care that deals with all the related aspects via tech. It is a firm bridge between the doctors, hospitals, pharmacy, blood bank, ambulance, radiology, personal trainer/ nurse and patient which makes communication and health related issues and solutions swift and easier. EHC works efficiently and saves time and assists the user to connect with each other with just a click. </a:t>
            </a:r>
            <a:endParaRPr lang="en-IN"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41404880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51CFAB-14B7-49B1-9FFB-FC628FC62304}"/>
              </a:ext>
            </a:extLst>
          </p:cNvPr>
          <p:cNvSpPr txBox="1"/>
          <p:nvPr/>
        </p:nvSpPr>
        <p:spPr>
          <a:xfrm>
            <a:off x="2922199" y="2581396"/>
            <a:ext cx="7340387" cy="847604"/>
          </a:xfrm>
          <a:prstGeom prst="rect">
            <a:avLst/>
          </a:prstGeom>
          <a:noFill/>
        </p:spPr>
        <p:txBody>
          <a:bodyPr wrap="square">
            <a:spAutoFit/>
          </a:bodyPr>
          <a:lstStyle/>
          <a:p>
            <a:pPr lvl="0" algn="ctr">
              <a:lnSpc>
                <a:spcPct val="107000"/>
              </a:lnSpc>
              <a:spcAft>
                <a:spcPts val="800"/>
              </a:spcAft>
            </a:pPr>
            <a:r>
              <a:rPr lang="en-US" sz="48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SYSTEM REQUIREMENTS</a:t>
            </a:r>
            <a:endParaRPr lang="en-IN" sz="4800"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10490695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CA47C4-537D-4DF9-9040-2953FD59C7DC}"/>
              </a:ext>
            </a:extLst>
          </p:cNvPr>
          <p:cNvSpPr txBox="1"/>
          <p:nvPr/>
        </p:nvSpPr>
        <p:spPr>
          <a:xfrm>
            <a:off x="3359088" y="1574660"/>
            <a:ext cx="6102926" cy="646331"/>
          </a:xfrm>
          <a:prstGeom prst="rect">
            <a:avLst/>
          </a:prstGeom>
          <a:noFill/>
        </p:spPr>
        <p:txBody>
          <a:bodyPr wrap="square">
            <a:spAutoFit/>
          </a:bodyPr>
          <a:lstStyle/>
          <a:p>
            <a:pPr algn="ctr"/>
            <a:r>
              <a:rPr lang="en-US" sz="36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HARDWARE REQUIREMENTS</a:t>
            </a:r>
            <a:endParaRPr lang="en-IN" sz="3600" dirty="0">
              <a:solidFill>
                <a:sysClr val="windowText" lastClr="000000"/>
              </a:solidFill>
            </a:endParaRPr>
          </a:p>
        </p:txBody>
      </p:sp>
      <p:graphicFrame>
        <p:nvGraphicFramePr>
          <p:cNvPr id="4" name="Table 3">
            <a:extLst>
              <a:ext uri="{FF2B5EF4-FFF2-40B4-BE49-F238E27FC236}">
                <a16:creationId xmlns:a16="http://schemas.microsoft.com/office/drawing/2014/main" id="{3FA484A7-526D-4B68-BBEF-5207605FAB68}"/>
              </a:ext>
            </a:extLst>
          </p:cNvPr>
          <p:cNvGraphicFramePr>
            <a:graphicFrameLocks noGrp="1"/>
          </p:cNvGraphicFramePr>
          <p:nvPr>
            <p:extLst>
              <p:ext uri="{D42A27DB-BD31-4B8C-83A1-F6EECF244321}">
                <p14:modId xmlns:p14="http://schemas.microsoft.com/office/powerpoint/2010/main" val="2565841439"/>
              </p:ext>
            </p:extLst>
          </p:nvPr>
        </p:nvGraphicFramePr>
        <p:xfrm>
          <a:off x="3137146" y="3062391"/>
          <a:ext cx="6391275" cy="1171385"/>
        </p:xfrm>
        <a:graphic>
          <a:graphicData uri="http://schemas.openxmlformats.org/drawingml/2006/table">
            <a:tbl>
              <a:tblPr firstRow="1" firstCol="1" bandRow="1">
                <a:tableStyleId>{5C22544A-7EE6-4342-B048-85BDC9FD1C3A}</a:tableStyleId>
              </a:tblPr>
              <a:tblGrid>
                <a:gridCol w="2250440">
                  <a:extLst>
                    <a:ext uri="{9D8B030D-6E8A-4147-A177-3AD203B41FA5}">
                      <a16:colId xmlns:a16="http://schemas.microsoft.com/office/drawing/2014/main" val="1540886044"/>
                    </a:ext>
                  </a:extLst>
                </a:gridCol>
                <a:gridCol w="4140835">
                  <a:extLst>
                    <a:ext uri="{9D8B030D-6E8A-4147-A177-3AD203B41FA5}">
                      <a16:colId xmlns:a16="http://schemas.microsoft.com/office/drawing/2014/main" val="3570149115"/>
                    </a:ext>
                  </a:extLst>
                </a:gridCol>
              </a:tblGrid>
              <a:tr h="356235">
                <a:tc>
                  <a:txBody>
                    <a:bodyPr/>
                    <a:lstStyle/>
                    <a:p>
                      <a:pPr>
                        <a:lnSpc>
                          <a:spcPct val="107000"/>
                        </a:lnSpc>
                        <a:spcAft>
                          <a:spcPts val="800"/>
                        </a:spcAft>
                      </a:pPr>
                      <a:r>
                        <a:rPr lang="en-US" sz="1400">
                          <a:effectLst/>
                        </a:rPr>
                        <a:t>PROCESSOR</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800"/>
                        </a:spcAft>
                      </a:pPr>
                      <a:r>
                        <a:rPr lang="en-US" sz="1400">
                          <a:effectLst/>
                        </a:rPr>
                        <a:t>Intel (R) Core (TM) i3-1005G1 CPU @1.20GHz 1.19 GHz</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966793256"/>
                  </a:ext>
                </a:extLst>
              </a:tr>
              <a:tr h="368935">
                <a:tc>
                  <a:txBody>
                    <a:bodyPr/>
                    <a:lstStyle/>
                    <a:p>
                      <a:pPr>
                        <a:lnSpc>
                          <a:spcPct val="107000"/>
                        </a:lnSpc>
                        <a:spcAft>
                          <a:spcPts val="800"/>
                        </a:spcAft>
                      </a:pPr>
                      <a:r>
                        <a:rPr lang="en-US" sz="1400">
                          <a:effectLst/>
                        </a:rPr>
                        <a:t>RAM</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800"/>
                        </a:spcAft>
                      </a:pPr>
                      <a:r>
                        <a:rPr lang="en-US" sz="1400">
                          <a:effectLst/>
                        </a:rPr>
                        <a:t>4 GB</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824541446"/>
                  </a:ext>
                </a:extLst>
              </a:tr>
              <a:tr h="356235">
                <a:tc>
                  <a:txBody>
                    <a:bodyPr/>
                    <a:lstStyle/>
                    <a:p>
                      <a:pPr>
                        <a:lnSpc>
                          <a:spcPct val="107000"/>
                        </a:lnSpc>
                        <a:spcAft>
                          <a:spcPts val="800"/>
                        </a:spcAft>
                      </a:pPr>
                      <a:r>
                        <a:rPr lang="en-US" sz="1400">
                          <a:effectLst/>
                        </a:rPr>
                        <a:t>DISK SPACE</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800"/>
                        </a:spcAft>
                      </a:pPr>
                      <a:r>
                        <a:rPr lang="en-US" sz="1400" dirty="0">
                          <a:effectLst/>
                        </a:rPr>
                        <a:t>2 GB</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315172787"/>
                  </a:ext>
                </a:extLst>
              </a:tr>
            </a:tbl>
          </a:graphicData>
        </a:graphic>
      </p:graphicFrame>
    </p:spTree>
    <p:extLst>
      <p:ext uri="{BB962C8B-B14F-4D97-AF65-F5344CB8AC3E}">
        <p14:creationId xmlns:p14="http://schemas.microsoft.com/office/powerpoint/2010/main" val="8565771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AA0DC1-29DE-4694-894C-5FDFF46E8BEA}"/>
              </a:ext>
            </a:extLst>
          </p:cNvPr>
          <p:cNvSpPr txBox="1"/>
          <p:nvPr/>
        </p:nvSpPr>
        <p:spPr>
          <a:xfrm>
            <a:off x="3311203" y="1830768"/>
            <a:ext cx="6102926" cy="646331"/>
          </a:xfrm>
          <a:prstGeom prst="rect">
            <a:avLst/>
          </a:prstGeom>
          <a:noFill/>
        </p:spPr>
        <p:txBody>
          <a:bodyPr wrap="square">
            <a:spAutoFit/>
          </a:bodyPr>
          <a:lstStyle/>
          <a:p>
            <a:pPr algn="ctr"/>
            <a:r>
              <a:rPr lang="en-US" sz="3600" b="1" dirty="0">
                <a:solidFill>
                  <a:sysClr val="windowText" lastClr="000000"/>
                </a:solidFill>
                <a:effectLst/>
                <a:latin typeface="Calibri" panose="020F0502020204030204" pitchFamily="34" charset="0"/>
                <a:ea typeface="Calibri" panose="020F0502020204030204" pitchFamily="34" charset="0"/>
                <a:cs typeface="Mangal" panose="02040503050203030202" pitchFamily="18" charset="0"/>
              </a:rPr>
              <a:t>SOFTWARE REQUIREMENTS</a:t>
            </a:r>
            <a:endParaRPr lang="en-IN" sz="3600" dirty="0">
              <a:solidFill>
                <a:sysClr val="windowText" lastClr="000000"/>
              </a:solidFill>
            </a:endParaRPr>
          </a:p>
        </p:txBody>
      </p:sp>
      <p:graphicFrame>
        <p:nvGraphicFramePr>
          <p:cNvPr id="4" name="Table 3">
            <a:extLst>
              <a:ext uri="{FF2B5EF4-FFF2-40B4-BE49-F238E27FC236}">
                <a16:creationId xmlns:a16="http://schemas.microsoft.com/office/drawing/2014/main" id="{C9CB6FCC-0924-45FA-A007-A55F620F3B0E}"/>
              </a:ext>
            </a:extLst>
          </p:cNvPr>
          <p:cNvGraphicFramePr>
            <a:graphicFrameLocks noGrp="1"/>
          </p:cNvGraphicFramePr>
          <p:nvPr>
            <p:extLst>
              <p:ext uri="{D42A27DB-BD31-4B8C-83A1-F6EECF244321}">
                <p14:modId xmlns:p14="http://schemas.microsoft.com/office/powerpoint/2010/main" val="2766431632"/>
              </p:ext>
            </p:extLst>
          </p:nvPr>
        </p:nvGraphicFramePr>
        <p:xfrm>
          <a:off x="3146391" y="3141283"/>
          <a:ext cx="6432550" cy="1525524"/>
        </p:xfrm>
        <a:graphic>
          <a:graphicData uri="http://schemas.openxmlformats.org/drawingml/2006/table">
            <a:tbl>
              <a:tblPr firstRow="1" firstCol="1" bandRow="1">
                <a:tableStyleId>{5C22544A-7EE6-4342-B048-85BDC9FD1C3A}</a:tableStyleId>
              </a:tblPr>
              <a:tblGrid>
                <a:gridCol w="3216275">
                  <a:extLst>
                    <a:ext uri="{9D8B030D-6E8A-4147-A177-3AD203B41FA5}">
                      <a16:colId xmlns:a16="http://schemas.microsoft.com/office/drawing/2014/main" val="3927102378"/>
                    </a:ext>
                  </a:extLst>
                </a:gridCol>
                <a:gridCol w="3216275">
                  <a:extLst>
                    <a:ext uri="{9D8B030D-6E8A-4147-A177-3AD203B41FA5}">
                      <a16:colId xmlns:a16="http://schemas.microsoft.com/office/drawing/2014/main" val="669158744"/>
                    </a:ext>
                  </a:extLst>
                </a:gridCol>
              </a:tblGrid>
              <a:tr h="201295">
                <a:tc>
                  <a:txBody>
                    <a:bodyPr/>
                    <a:lstStyle/>
                    <a:p>
                      <a:pPr>
                        <a:lnSpc>
                          <a:spcPct val="107000"/>
                        </a:lnSpc>
                        <a:spcAft>
                          <a:spcPts val="800"/>
                        </a:spcAft>
                      </a:pPr>
                      <a:r>
                        <a:rPr lang="en-US" sz="1400">
                          <a:effectLst/>
                        </a:rPr>
                        <a:t>O/S</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800"/>
                        </a:spcAft>
                      </a:pPr>
                      <a:r>
                        <a:rPr lang="en-US" sz="1400">
                          <a:effectLst/>
                        </a:rPr>
                        <a:t>Windows 10 (64 bits)</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4204143058"/>
                  </a:ext>
                </a:extLst>
              </a:tr>
              <a:tr h="208915">
                <a:tc>
                  <a:txBody>
                    <a:bodyPr/>
                    <a:lstStyle/>
                    <a:p>
                      <a:pPr>
                        <a:lnSpc>
                          <a:spcPct val="107000"/>
                        </a:lnSpc>
                        <a:spcAft>
                          <a:spcPts val="800"/>
                        </a:spcAft>
                      </a:pPr>
                      <a:r>
                        <a:rPr lang="en-US" sz="1400">
                          <a:effectLst/>
                        </a:rPr>
                        <a:t>Local Server</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800"/>
                        </a:spcAft>
                      </a:pPr>
                      <a:r>
                        <a:rPr lang="en-US" sz="1400">
                          <a:effectLst/>
                        </a:rPr>
                        <a:t>Express </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3686846093"/>
                  </a:ext>
                </a:extLst>
              </a:tr>
              <a:tr h="201295">
                <a:tc>
                  <a:txBody>
                    <a:bodyPr/>
                    <a:lstStyle/>
                    <a:p>
                      <a:pPr>
                        <a:lnSpc>
                          <a:spcPct val="107000"/>
                        </a:lnSpc>
                        <a:spcAft>
                          <a:spcPts val="800"/>
                        </a:spcAft>
                      </a:pPr>
                      <a:r>
                        <a:rPr lang="en-US" sz="1400">
                          <a:effectLst/>
                        </a:rPr>
                        <a:t>Database</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800"/>
                        </a:spcAft>
                      </a:pPr>
                      <a:r>
                        <a:rPr lang="en-US" sz="1400" dirty="0">
                          <a:effectLst/>
                        </a:rPr>
                        <a:t>MongoDB</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3042061766"/>
                  </a:ext>
                </a:extLst>
              </a:tr>
              <a:tr h="201295">
                <a:tc>
                  <a:txBody>
                    <a:bodyPr/>
                    <a:lstStyle/>
                    <a:p>
                      <a:pPr>
                        <a:lnSpc>
                          <a:spcPct val="107000"/>
                        </a:lnSpc>
                        <a:spcAft>
                          <a:spcPts val="800"/>
                        </a:spcAft>
                      </a:pPr>
                      <a:r>
                        <a:rPr lang="en-US" sz="1400">
                          <a:effectLst/>
                        </a:rPr>
                        <a:t>User Interface</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800"/>
                        </a:spcAft>
                      </a:pPr>
                      <a:r>
                        <a:rPr lang="en-US" sz="1400">
                          <a:effectLst/>
                        </a:rPr>
                        <a:t>HTML, CSS, Bootstrap</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827559846"/>
                  </a:ext>
                </a:extLst>
              </a:tr>
              <a:tr h="208915">
                <a:tc>
                  <a:txBody>
                    <a:bodyPr/>
                    <a:lstStyle/>
                    <a:p>
                      <a:pPr>
                        <a:lnSpc>
                          <a:spcPct val="107000"/>
                        </a:lnSpc>
                        <a:spcAft>
                          <a:spcPts val="800"/>
                        </a:spcAft>
                      </a:pPr>
                      <a:r>
                        <a:rPr lang="en-US" sz="1400">
                          <a:effectLst/>
                        </a:rPr>
                        <a:t>Programming Language</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800"/>
                        </a:spcAft>
                      </a:pPr>
                      <a:r>
                        <a:rPr lang="en-US" sz="1400">
                          <a:effectLst/>
                        </a:rPr>
                        <a:t>JavaScript</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182529327"/>
                  </a:ext>
                </a:extLst>
              </a:tr>
              <a:tr h="201295">
                <a:tc>
                  <a:txBody>
                    <a:bodyPr/>
                    <a:lstStyle/>
                    <a:p>
                      <a:pPr>
                        <a:lnSpc>
                          <a:spcPct val="107000"/>
                        </a:lnSpc>
                        <a:spcAft>
                          <a:spcPts val="800"/>
                        </a:spcAft>
                      </a:pPr>
                      <a:r>
                        <a:rPr lang="en-US" sz="1400">
                          <a:effectLst/>
                        </a:rPr>
                        <a:t>Framework </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800"/>
                        </a:spcAft>
                      </a:pPr>
                      <a:r>
                        <a:rPr lang="en-US" sz="1400">
                          <a:effectLst/>
                        </a:rPr>
                        <a:t>NodeJS</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3746418141"/>
                  </a:ext>
                </a:extLst>
              </a:tr>
              <a:tr h="201295">
                <a:tc>
                  <a:txBody>
                    <a:bodyPr/>
                    <a:lstStyle/>
                    <a:p>
                      <a:pPr>
                        <a:lnSpc>
                          <a:spcPct val="107000"/>
                        </a:lnSpc>
                        <a:spcAft>
                          <a:spcPts val="800"/>
                        </a:spcAft>
                      </a:pPr>
                      <a:r>
                        <a:rPr lang="en-US" sz="1400">
                          <a:effectLst/>
                        </a:rPr>
                        <a:t>Writing Environment</a:t>
                      </a:r>
                      <a:endParaRPr lang="en-IN"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07000"/>
                        </a:lnSpc>
                        <a:spcAft>
                          <a:spcPts val="800"/>
                        </a:spcAft>
                      </a:pPr>
                      <a:r>
                        <a:rPr lang="en-US" sz="1400" dirty="0">
                          <a:effectLst/>
                        </a:rPr>
                        <a:t>MICROSOFT VISUAL STUDIO</a:t>
                      </a:r>
                      <a:endParaRPr lang="en-IN"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639725902"/>
                  </a:ext>
                </a:extLst>
              </a:tr>
            </a:tbl>
          </a:graphicData>
        </a:graphic>
      </p:graphicFrame>
    </p:spTree>
    <p:extLst>
      <p:ext uri="{BB962C8B-B14F-4D97-AF65-F5344CB8AC3E}">
        <p14:creationId xmlns:p14="http://schemas.microsoft.com/office/powerpoint/2010/main" val="40374798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Template>
  <TotalTime>86</TotalTime>
  <Words>1285</Words>
  <Application>Microsoft Office PowerPoint</Application>
  <PresentationFormat>Widescreen</PresentationFormat>
  <Paragraphs>213</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Courier New</vt:lpstr>
      <vt:lpstr>Symbol</vt:lpstr>
      <vt:lpstr>Tw Cen MT</vt:lpstr>
      <vt:lpstr>Circuit</vt:lpstr>
      <vt:lpstr>SSR DOCUMENTS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SSR DOCUMENTS</dc:title>
  <dc:creator>NIKITA DÇOSTA</dc:creator>
  <cp:lastModifiedBy>NIKITA DÇOSTA</cp:lastModifiedBy>
  <cp:revision>3</cp:revision>
  <dcterms:created xsi:type="dcterms:W3CDTF">2021-08-30T10:37:05Z</dcterms:created>
  <dcterms:modified xsi:type="dcterms:W3CDTF">2021-08-31T07:20:58Z</dcterms:modified>
</cp:coreProperties>
</file>