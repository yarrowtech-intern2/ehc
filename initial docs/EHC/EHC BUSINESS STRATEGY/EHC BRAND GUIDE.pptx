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7" r:id="rId1"/>
  </p:sldMasterIdLst>
  <p:sldIdLst>
    <p:sldId id="268" r:id="rId2"/>
    <p:sldId id="269" r:id="rId3"/>
    <p:sldId id="256" r:id="rId4"/>
    <p:sldId id="257" r:id="rId5"/>
    <p:sldId id="260" r:id="rId6"/>
    <p:sldId id="259" r:id="rId7"/>
    <p:sldId id="258" r:id="rId8"/>
    <p:sldId id="261" r:id="rId9"/>
    <p:sldId id="263" r:id="rId10"/>
    <p:sldId id="264" r:id="rId11"/>
    <p:sldId id="265"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99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014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2848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913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91034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391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1189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123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390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8/14/2021</a:t>
            </a:fld>
            <a:endParaRPr lang="en-US" dirty="0"/>
          </a:p>
        </p:txBody>
      </p:sp>
    </p:spTree>
    <p:extLst>
      <p:ext uri="{BB962C8B-B14F-4D97-AF65-F5344CB8AC3E}">
        <p14:creationId xmlns:p14="http://schemas.microsoft.com/office/powerpoint/2010/main" val="3690383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919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79759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1007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54526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0433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24039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5134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8/14/2021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8103648"/>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technofaq.org/posts/2019/05/top-qualities-you-need-to-become-a-successful-healthcare-app-developer/"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99FA"/>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80714B-D639-40D7-8C8B-ED0EE255C7A0}"/>
              </a:ext>
            </a:extLst>
          </p:cNvPr>
          <p:cNvSpPr txBox="1"/>
          <p:nvPr/>
        </p:nvSpPr>
        <p:spPr>
          <a:xfrm>
            <a:off x="4753991" y="2600403"/>
            <a:ext cx="2303755" cy="1015663"/>
          </a:xfrm>
          <a:prstGeom prst="rect">
            <a:avLst/>
          </a:prstGeom>
          <a:solidFill>
            <a:srgbClr val="2699FA"/>
          </a:solidFill>
        </p:spPr>
        <p:txBody>
          <a:bodyPr wrap="square">
            <a:spAutoFit/>
          </a:bodyPr>
          <a:lstStyle/>
          <a:p>
            <a:pPr algn="ctr"/>
            <a:r>
              <a:rPr lang="en-IN" sz="6000" b="1" i="0" dirty="0">
                <a:solidFill>
                  <a:schemeClr val="bg1"/>
                </a:solidFill>
                <a:effectLst>
                  <a:glow rad="139700">
                    <a:schemeClr val="accent1">
                      <a:satMod val="175000"/>
                      <a:alpha val="40000"/>
                    </a:schemeClr>
                  </a:glow>
                </a:effectLst>
                <a:latin typeface="Lora script=latin rev=2"/>
              </a:rPr>
              <a:t>EHC</a:t>
            </a:r>
            <a:endParaRPr lang="en-IN" sz="6000" b="1" dirty="0">
              <a:solidFill>
                <a:schemeClr val="bg1"/>
              </a:solidFill>
              <a:effectLst>
                <a:glow rad="139700">
                  <a:schemeClr val="accent1">
                    <a:satMod val="175000"/>
                    <a:alpha val="40000"/>
                  </a:schemeClr>
                </a:glow>
              </a:effectLst>
            </a:endParaRPr>
          </a:p>
        </p:txBody>
      </p:sp>
    </p:spTree>
    <p:extLst>
      <p:ext uri="{BB962C8B-B14F-4D97-AF65-F5344CB8AC3E}">
        <p14:creationId xmlns:p14="http://schemas.microsoft.com/office/powerpoint/2010/main" val="153358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C8AB-7A90-40EE-A88F-A9B1664BECDC}"/>
              </a:ext>
            </a:extLst>
          </p:cNvPr>
          <p:cNvSpPr>
            <a:spLocks noGrp="1"/>
          </p:cNvSpPr>
          <p:nvPr>
            <p:ph type="title"/>
          </p:nvPr>
        </p:nvSpPr>
        <p:spPr>
          <a:xfrm>
            <a:off x="1103310" y="2846686"/>
            <a:ext cx="5653337" cy="2279247"/>
          </a:xfrm>
        </p:spPr>
        <p:txBody>
          <a:bodyPr>
            <a:normAutofit/>
          </a:bodyPr>
          <a:lstStyle/>
          <a:p>
            <a:pPr>
              <a:lnSpc>
                <a:spcPct val="107000"/>
              </a:lnSpc>
              <a:spcAft>
                <a:spcPts val="800"/>
              </a:spcAft>
            </a:pPr>
            <a:r>
              <a:rPr lang="en-US" sz="1800" dirty="0">
                <a:solidFill>
                  <a:schemeClr val="tx1"/>
                </a:solidFill>
                <a:latin typeface="Calibri" panose="020F0502020204030204" pitchFamily="34" charset="0"/>
                <a:cs typeface="Times New Roman" panose="02020603050405020304" pitchFamily="18" charset="0"/>
              </a:rPr>
              <a:t>EHC IS AN APPLICATION SOFTWARE WHICH IS PROVIDING HEALTHCARE FACILITIES THROUGH DIGITAL MEDIA PLATFORM. IT WILL KEEP AN EYE ON THE PATIENT’S CONDITIONS AND PROGRESS THROUGHOUT THE DURATION OF THE TREATMENT. THESE SERVICES WILL STORE THE PATIENT’S MEDICAL TEST REPORTS, WHICH DOCTORS CAN ACCESS ANYTIME THEY WANT.</a:t>
            </a:r>
            <a:endParaRPr lang="en-IN" sz="1800" dirty="0">
              <a:solidFill>
                <a:schemeClr val="tx1"/>
              </a:solidFill>
              <a:latin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BEDB841-80C9-4400-B4D7-2DBBA9A207B5}"/>
              </a:ext>
            </a:extLst>
          </p:cNvPr>
          <p:cNvSpPr txBox="1"/>
          <p:nvPr/>
        </p:nvSpPr>
        <p:spPr>
          <a:xfrm>
            <a:off x="1185539" y="1088440"/>
            <a:ext cx="7248247" cy="769441"/>
          </a:xfrm>
          <a:prstGeom prst="chevron">
            <a:avLst/>
          </a:prstGeom>
          <a:solidFill>
            <a:srgbClr val="2699FA"/>
          </a:solidFill>
        </p:spPr>
        <p:txBody>
          <a:bodyPr wrap="square">
            <a:spAutoFit/>
          </a:bodyPr>
          <a:lstStyle/>
          <a:p>
            <a:pPr algn="ctr"/>
            <a:r>
              <a:rPr lang="en-IN" sz="4400" dirty="0">
                <a:solidFill>
                  <a:schemeClr val="bg1"/>
                </a:solidFill>
              </a:rPr>
              <a:t>WHO THE BRAND IS?</a:t>
            </a:r>
          </a:p>
        </p:txBody>
      </p:sp>
      <p:pic>
        <p:nvPicPr>
          <p:cNvPr id="6" name="Picture 5">
            <a:extLst>
              <a:ext uri="{FF2B5EF4-FFF2-40B4-BE49-F238E27FC236}">
                <a16:creationId xmlns:a16="http://schemas.microsoft.com/office/drawing/2014/main" id="{B830CF7D-8BD9-4128-A89C-48D3EC92286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934200" y="2714823"/>
            <a:ext cx="4568432" cy="2542975"/>
          </a:xfrm>
          <a:prstGeom prst="rect">
            <a:avLst/>
          </a:prstGeom>
        </p:spPr>
      </p:pic>
    </p:spTree>
    <p:extLst>
      <p:ext uri="{BB962C8B-B14F-4D97-AF65-F5344CB8AC3E}">
        <p14:creationId xmlns:p14="http://schemas.microsoft.com/office/powerpoint/2010/main" val="1395580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E8CB86-85C2-480D-B07A-55C7BDBE7FA8}"/>
              </a:ext>
            </a:extLst>
          </p:cNvPr>
          <p:cNvSpPr txBox="1"/>
          <p:nvPr/>
        </p:nvSpPr>
        <p:spPr>
          <a:xfrm>
            <a:off x="862203" y="2556028"/>
            <a:ext cx="6099462" cy="2450094"/>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OUR MISSION OF OUR PROJECT IS TO SERVE THE CITIZENS AS SOON AS POSSIBLE EVEN IN TIMES OF AN EMERGENCY, TO HELP THE PEOPLE AROUND THE STATES AND TO BUILD A RELATIONSHIP OF HUMANITY THROUGH OUR APPLICATION. EVERYTHING WILL BE EASILY AVAILABLE TO THE PEOPLE IN ONE TOUCH, THEY DON’T HAVE TO GO OUT OF THEIR WAY FOR ANY KIND OF HELP, THIS APPLICATION WILL REACH OUT TO THEM INSTANTLY AND GIVE THEM RESULTS IN NO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26BEB5B-3CB7-4972-A7BD-1B80EEDABBC1}"/>
              </a:ext>
            </a:extLst>
          </p:cNvPr>
          <p:cNvSpPr txBox="1"/>
          <p:nvPr/>
        </p:nvSpPr>
        <p:spPr>
          <a:xfrm>
            <a:off x="5535533" y="717496"/>
            <a:ext cx="4017735" cy="784702"/>
          </a:xfrm>
          <a:prstGeom prst="chevron">
            <a:avLst/>
          </a:prstGeom>
          <a:solidFill>
            <a:srgbClr val="2699FA"/>
          </a:solidFill>
        </p:spPr>
        <p:txBody>
          <a:bodyPr wrap="square">
            <a:spAutoFit/>
          </a:bodyPr>
          <a:lstStyle/>
          <a:p>
            <a:pPr algn="ctr">
              <a:lnSpc>
                <a:spcPct val="107000"/>
              </a:lnSpc>
              <a:spcAft>
                <a:spcPts val="800"/>
              </a:spcAft>
            </a:pPr>
            <a:r>
              <a:rPr lang="en-US"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MISSON OF EHC</a:t>
            </a:r>
            <a:endParaRPr lang="en-IN"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A23ADF3-1D85-418F-869B-415BF43054B4}"/>
              </a:ext>
            </a:extLst>
          </p:cNvPr>
          <p:cNvPicPr>
            <a:picLocks noChangeAspect="1"/>
          </p:cNvPicPr>
          <p:nvPr/>
        </p:nvPicPr>
        <p:blipFill>
          <a:blip r:embed="rId2"/>
          <a:stretch>
            <a:fillRect/>
          </a:stretch>
        </p:blipFill>
        <p:spPr>
          <a:xfrm>
            <a:off x="7393099" y="2413380"/>
            <a:ext cx="4320339" cy="2592742"/>
          </a:xfrm>
          <a:prstGeom prst="rect">
            <a:avLst/>
          </a:prstGeom>
        </p:spPr>
      </p:pic>
    </p:spTree>
    <p:extLst>
      <p:ext uri="{BB962C8B-B14F-4D97-AF65-F5344CB8AC3E}">
        <p14:creationId xmlns:p14="http://schemas.microsoft.com/office/powerpoint/2010/main" val="1452579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88EA06-BB88-492B-81D3-4827B35EE953}"/>
              </a:ext>
            </a:extLst>
          </p:cNvPr>
          <p:cNvSpPr txBox="1"/>
          <p:nvPr/>
        </p:nvSpPr>
        <p:spPr>
          <a:xfrm>
            <a:off x="874703" y="2238324"/>
            <a:ext cx="6099462" cy="3281091"/>
          </a:xfrm>
          <a:prstGeom prst="rect">
            <a:avLst/>
          </a:prstGeom>
          <a:noFill/>
        </p:spPr>
        <p:txBody>
          <a:bodyPr wrap="square">
            <a:spAutoFit/>
          </a:bodyPr>
          <a:lstStyle/>
          <a:p>
            <a:r>
              <a:rPr lang="en-US" sz="1800" dirty="0">
                <a:solidFill>
                  <a:srgbClr val="000000"/>
                </a:solidFill>
                <a:effectLst/>
                <a:latin typeface="Calibri" panose="020F0502020204030204" pitchFamily="34" charset="0"/>
                <a:ea typeface="Arial Unicode MS"/>
                <a:cs typeface="Arial Unicode MS"/>
              </a:rPr>
              <a:t>OUR VISION IS TO ENSURE THAT EVERY CITIZEN CAN GET THE BEST IN HEALTHCARE BY EACH HEALTHCARE WORKERS AND DEPARTMENTS BY STAYING CONNECTED WITH EACH OTHER.</a:t>
            </a:r>
            <a:endParaRPr lang="en-IN" sz="1600" dirty="0">
              <a:solidFill>
                <a:srgbClr val="000000"/>
              </a:solidFill>
              <a:effectLst/>
              <a:latin typeface="Helvetica Neue"/>
              <a:ea typeface="Arial Unicode MS"/>
              <a:cs typeface="Arial Unicode MS"/>
            </a:endParaRPr>
          </a:p>
          <a:p>
            <a:pPr>
              <a:lnSpc>
                <a:spcPct val="107000"/>
              </a:lnSpc>
              <a:spcAft>
                <a:spcPts val="800"/>
              </a:spcAft>
            </a:pPr>
            <a:r>
              <a:rPr lang="en-IN" sz="1800" dirty="0">
                <a:effectLst/>
                <a:latin typeface="Calibri" panose="020F0502020204030204" pitchFamily="34" charset="0"/>
                <a:ea typeface="Calibri" panose="020F0502020204030204" pitchFamily="34" charset="0"/>
                <a:cs typeface="Calibri" panose="020F0502020204030204" pitchFamily="34" charset="0"/>
              </a:rPr>
              <a:t>OUR AIM IS TO BE THE BEST IN HELPING HEALTHCARE WORKERS BY GETTING THEM TO COMMUNICATE WITH EACH DEPARTMENT FOR THE WELFARE AND BETTERMENT OF THEIR PATIENTS. HEALTH IS A STATE OF COMPLETE MENTAL, SOCIAL AND PHYSICAL WELL-BEING, NOT MERELY THE ABSENCE OF DISEASE OR INFIRMITY. IT DOESN'T END THERE; OUR SOLE GOAL IS TO ACHIEVE A BETTER FUTURE IN TREATMENTS AND THE WAY TO MEDICATE PATIENTS.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044CFF5-3A7D-448A-A08B-F0D94A7E2798}"/>
              </a:ext>
            </a:extLst>
          </p:cNvPr>
          <p:cNvSpPr txBox="1"/>
          <p:nvPr/>
        </p:nvSpPr>
        <p:spPr>
          <a:xfrm>
            <a:off x="2673058" y="510729"/>
            <a:ext cx="4651019" cy="784702"/>
          </a:xfrm>
          <a:prstGeom prst="chevron">
            <a:avLst/>
          </a:prstGeom>
          <a:solidFill>
            <a:srgbClr val="2699FA"/>
          </a:solidFill>
        </p:spPr>
        <p:txBody>
          <a:bodyPr wrap="square">
            <a:spAutoFit/>
          </a:bodyPr>
          <a:lstStyle/>
          <a:p>
            <a:pPr algn="ctr">
              <a:lnSpc>
                <a:spcPct val="107000"/>
              </a:lnSpc>
              <a:spcAft>
                <a:spcPts val="800"/>
              </a:spcAft>
            </a:pPr>
            <a:r>
              <a:rPr lang="en-US"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VISION</a:t>
            </a:r>
            <a:endParaRPr lang="en-IN"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46919A57-6765-40A7-BAF4-36E9F34EA716}"/>
              </a:ext>
            </a:extLst>
          </p:cNvPr>
          <p:cNvPicPr>
            <a:picLocks noChangeAspect="1"/>
          </p:cNvPicPr>
          <p:nvPr/>
        </p:nvPicPr>
        <p:blipFill rotWithShape="1">
          <a:blip r:embed="rId2"/>
          <a:srcRect t="14804" b="3533"/>
          <a:stretch/>
        </p:blipFill>
        <p:spPr>
          <a:xfrm>
            <a:off x="7867914" y="2238323"/>
            <a:ext cx="4040297" cy="3281092"/>
          </a:xfrm>
          <a:prstGeom prst="rect">
            <a:avLst/>
          </a:prstGeom>
        </p:spPr>
      </p:pic>
    </p:spTree>
    <p:extLst>
      <p:ext uri="{BB962C8B-B14F-4D97-AF65-F5344CB8AC3E}">
        <p14:creationId xmlns:p14="http://schemas.microsoft.com/office/powerpoint/2010/main" val="3068873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BA94C-D534-44A2-B88C-D9DC2F0AD205}"/>
              </a:ext>
            </a:extLst>
          </p:cNvPr>
          <p:cNvSpPr txBox="1"/>
          <p:nvPr/>
        </p:nvSpPr>
        <p:spPr>
          <a:xfrm>
            <a:off x="2420656" y="580573"/>
            <a:ext cx="3740447" cy="769441"/>
          </a:xfrm>
          <a:prstGeom prst="chevron">
            <a:avLst/>
          </a:prstGeom>
          <a:solidFill>
            <a:srgbClr val="2699FA"/>
          </a:solidFill>
        </p:spPr>
        <p:txBody>
          <a:bodyPr wrap="square">
            <a:spAutoFit/>
          </a:bodyPr>
          <a:lstStyle/>
          <a:p>
            <a:pPr algn="ctr"/>
            <a:r>
              <a:rPr lang="en-IN" sz="4400" dirty="0">
                <a:solidFill>
                  <a:schemeClr val="bg1"/>
                </a:solidFill>
              </a:rPr>
              <a:t>VALUES</a:t>
            </a:r>
          </a:p>
        </p:txBody>
      </p:sp>
      <p:sp>
        <p:nvSpPr>
          <p:cNvPr id="5" name="TextBox 4">
            <a:extLst>
              <a:ext uri="{FF2B5EF4-FFF2-40B4-BE49-F238E27FC236}">
                <a16:creationId xmlns:a16="http://schemas.microsoft.com/office/drawing/2014/main" id="{6802DEC3-4972-416B-B3BC-DDD997A0249E}"/>
              </a:ext>
            </a:extLst>
          </p:cNvPr>
          <p:cNvSpPr txBox="1"/>
          <p:nvPr/>
        </p:nvSpPr>
        <p:spPr>
          <a:xfrm>
            <a:off x="5829070" y="2707240"/>
            <a:ext cx="6093372" cy="2450094"/>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APPLICATION WILL NOT ONLY HELP THE CITIZENS BUT IT WILL ALSO HELP TO MAKE INDEPENDENT SOCIETY BY PROVIDING HIGH QUALITY HEALTH CARE TO ALL. IT WILL HELP THEM TO DETECT THEIR HEALTH ISSUE, TO DO ROUTINE CHECK UP WHENEVER THEY WANT BY TAKING AN APPOINTMENT THROUGH THEIR PHONE. THE ADMINISTRATIVE WILL BE LINKED TO ONE ANOTHER AND THEIR HEALTH DETAILS WILL BE ALL SECURE IN THIS APPLICATION.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DEE27203-81EB-456D-83DC-A5685F1540E4}"/>
              </a:ext>
            </a:extLst>
          </p:cNvPr>
          <p:cNvPicPr>
            <a:picLocks noChangeAspect="1"/>
          </p:cNvPicPr>
          <p:nvPr/>
        </p:nvPicPr>
        <p:blipFill>
          <a:blip r:embed="rId2"/>
          <a:stretch>
            <a:fillRect/>
          </a:stretch>
        </p:blipFill>
        <p:spPr>
          <a:xfrm>
            <a:off x="871861" y="2707240"/>
            <a:ext cx="4527754" cy="2354432"/>
          </a:xfrm>
          <a:prstGeom prst="rect">
            <a:avLst/>
          </a:prstGeom>
        </p:spPr>
      </p:pic>
    </p:spTree>
    <p:extLst>
      <p:ext uri="{BB962C8B-B14F-4D97-AF65-F5344CB8AC3E}">
        <p14:creationId xmlns:p14="http://schemas.microsoft.com/office/powerpoint/2010/main" val="23894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C2D3C-183C-4A07-B4BC-80EE95DC114E}"/>
              </a:ext>
            </a:extLst>
          </p:cNvPr>
          <p:cNvSpPr>
            <a:spLocks noGrp="1"/>
          </p:cNvSpPr>
          <p:nvPr>
            <p:ph type="title"/>
          </p:nvPr>
        </p:nvSpPr>
        <p:spPr>
          <a:xfrm>
            <a:off x="5104760" y="911850"/>
            <a:ext cx="2367737" cy="943582"/>
          </a:xfrm>
          <a:prstGeom prst="chevron">
            <a:avLst/>
          </a:prstGeom>
          <a:solidFill>
            <a:srgbClr val="2699FA"/>
          </a:solidFill>
        </p:spPr>
        <p:txBody>
          <a:bodyPr>
            <a:normAutofit/>
          </a:bodyPr>
          <a:lstStyle/>
          <a:p>
            <a:pPr algn="ctr"/>
            <a:r>
              <a:rPr lang="en-US" sz="4400" dirty="0">
                <a:solidFill>
                  <a:schemeClr val="bg1"/>
                </a:solidFill>
              </a:rPr>
              <a:t>AI</a:t>
            </a:r>
            <a:endParaRPr lang="en-IN" sz="4400" dirty="0">
              <a:solidFill>
                <a:schemeClr val="bg1"/>
              </a:solidFill>
            </a:endParaRPr>
          </a:p>
        </p:txBody>
      </p:sp>
      <p:sp>
        <p:nvSpPr>
          <p:cNvPr id="3" name="Text Placeholder 3">
            <a:extLst>
              <a:ext uri="{FF2B5EF4-FFF2-40B4-BE49-F238E27FC236}">
                <a16:creationId xmlns:a16="http://schemas.microsoft.com/office/drawing/2014/main" id="{70606DC2-C350-4FAB-B791-5C3E1949815B}"/>
              </a:ext>
            </a:extLst>
          </p:cNvPr>
          <p:cNvSpPr txBox="1">
            <a:spLocks/>
          </p:cNvSpPr>
          <p:nvPr/>
        </p:nvSpPr>
        <p:spPr>
          <a:xfrm>
            <a:off x="1828461" y="2506089"/>
            <a:ext cx="2891044" cy="2068206"/>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dirty="0">
                <a:solidFill>
                  <a:schemeClr val="tx1"/>
                </a:solidFill>
                <a:latin typeface="+mn-lt"/>
                <a:ea typeface="+mn-ea"/>
                <a:cs typeface="Calibri" panose="020F0502020204030204" pitchFamily="34" charset="0"/>
              </a:rPr>
              <a:t>MODELS:</a:t>
            </a:r>
          </a:p>
          <a:p>
            <a:endParaRPr lang="en-IN" sz="1800" dirty="0">
              <a:solidFill>
                <a:schemeClr val="tx1"/>
              </a:solidFill>
              <a:latin typeface="+mn-lt"/>
              <a:ea typeface="+mn-ea"/>
              <a:cs typeface="Calibri" panose="020F0502020204030204" pitchFamily="34" charset="0"/>
            </a:endParaRPr>
          </a:p>
          <a:p>
            <a:r>
              <a:rPr lang="en-IN" sz="1800" dirty="0">
                <a:solidFill>
                  <a:schemeClr val="tx1"/>
                </a:solidFill>
                <a:latin typeface="+mn-lt"/>
                <a:ea typeface="+mn-ea"/>
                <a:cs typeface="Calibri" panose="020F0502020204030204" pitchFamily="34" charset="0"/>
              </a:rPr>
              <a:t>1)PATTERN RECOGNITION</a:t>
            </a:r>
          </a:p>
          <a:p>
            <a:r>
              <a:rPr lang="en-IN" sz="1800" dirty="0">
                <a:solidFill>
                  <a:schemeClr val="tx1"/>
                </a:solidFill>
                <a:latin typeface="+mn-lt"/>
                <a:ea typeface="+mn-ea"/>
                <a:cs typeface="Calibri" panose="020F0502020204030204" pitchFamily="34" charset="0"/>
              </a:rPr>
              <a:t>2)CLASSIFICATION </a:t>
            </a:r>
          </a:p>
          <a:p>
            <a:r>
              <a:rPr lang="en-IN" sz="1800" dirty="0">
                <a:solidFill>
                  <a:schemeClr val="tx1"/>
                </a:solidFill>
                <a:latin typeface="+mn-lt"/>
                <a:ea typeface="+mn-ea"/>
                <a:cs typeface="Calibri" panose="020F0502020204030204" pitchFamily="34" charset="0"/>
              </a:rPr>
              <a:t>3)SEGMENTATION</a:t>
            </a:r>
          </a:p>
          <a:p>
            <a:r>
              <a:rPr lang="en-IN" sz="1800" dirty="0">
                <a:solidFill>
                  <a:schemeClr val="tx1"/>
                </a:solidFill>
                <a:latin typeface="+mn-lt"/>
                <a:ea typeface="+mn-ea"/>
                <a:cs typeface="Calibri" panose="020F0502020204030204" pitchFamily="34" charset="0"/>
              </a:rPr>
              <a:t>4)REGISTRATION OF ANATOMICAL STRUCTURES AND LESIONS</a:t>
            </a:r>
          </a:p>
        </p:txBody>
      </p:sp>
      <p:sp>
        <p:nvSpPr>
          <p:cNvPr id="4" name="TextBox 3">
            <a:extLst>
              <a:ext uri="{FF2B5EF4-FFF2-40B4-BE49-F238E27FC236}">
                <a16:creationId xmlns:a16="http://schemas.microsoft.com/office/drawing/2014/main" id="{0B4DD508-77CB-4F43-A3FB-BA709406ADF5}"/>
              </a:ext>
            </a:extLst>
          </p:cNvPr>
          <p:cNvSpPr txBox="1"/>
          <p:nvPr/>
        </p:nvSpPr>
        <p:spPr>
          <a:xfrm>
            <a:off x="7472497" y="2887829"/>
            <a:ext cx="2891044" cy="1477328"/>
          </a:xfrm>
          <a:prstGeom prst="rect">
            <a:avLst/>
          </a:prstGeom>
          <a:noFill/>
        </p:spPr>
        <p:txBody>
          <a:bodyPr wrap="square">
            <a:spAutoFit/>
          </a:bodyPr>
          <a:lstStyle/>
          <a:p>
            <a:r>
              <a:rPr lang="en-US" dirty="0">
                <a:latin typeface="+mn-lt"/>
                <a:cs typeface="Calibri" panose="020F0502020204030204" pitchFamily="34" charset="0"/>
              </a:rPr>
              <a:t>ANOTHER MODELS:</a:t>
            </a:r>
          </a:p>
          <a:p>
            <a:endParaRPr lang="en-US" dirty="0">
              <a:latin typeface="+mn-lt"/>
              <a:cs typeface="Calibri" panose="020F0502020204030204" pitchFamily="34" charset="0"/>
            </a:endParaRPr>
          </a:p>
          <a:p>
            <a:r>
              <a:rPr lang="en-US" dirty="0">
                <a:latin typeface="+mn-lt"/>
                <a:cs typeface="Calibri" panose="020F0502020204030204" pitchFamily="34" charset="0"/>
              </a:rPr>
              <a:t>DYNAMIC, FUNCTIONAL, PHYSIOLOGIC, AND ANATOMIC IMAGING</a:t>
            </a:r>
            <a:endParaRPr lang="en-IN" dirty="0">
              <a:latin typeface="+mn-lt"/>
              <a:cs typeface="Calibri" panose="020F0502020204030204" pitchFamily="34" charset="0"/>
            </a:endParaRPr>
          </a:p>
        </p:txBody>
      </p:sp>
    </p:spTree>
    <p:extLst>
      <p:ext uri="{BB962C8B-B14F-4D97-AF65-F5344CB8AC3E}">
        <p14:creationId xmlns:p14="http://schemas.microsoft.com/office/powerpoint/2010/main" val="195802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B86AA2-A7FB-4CC7-A7EB-0868F5420D52}"/>
              </a:ext>
            </a:extLst>
          </p:cNvPr>
          <p:cNvSpPr txBox="1"/>
          <p:nvPr/>
        </p:nvSpPr>
        <p:spPr>
          <a:xfrm>
            <a:off x="5899463" y="4865623"/>
            <a:ext cx="6099462" cy="67191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TARGETED AUDIENCE IS DOCTOR’S, PATIENT, AMBULANCE, BLOOD BANK AND PHARMACY.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4FE65CC-45A5-4D05-8753-48E9B3960B55}"/>
              </a:ext>
            </a:extLst>
          </p:cNvPr>
          <p:cNvSpPr txBox="1"/>
          <p:nvPr/>
        </p:nvSpPr>
        <p:spPr>
          <a:xfrm>
            <a:off x="3170808" y="758389"/>
            <a:ext cx="5850384" cy="784702"/>
          </a:xfrm>
          <a:prstGeom prst="chevron">
            <a:avLst/>
          </a:prstGeom>
          <a:solidFill>
            <a:srgbClr val="2699FA"/>
          </a:solidFill>
        </p:spPr>
        <p:txBody>
          <a:bodyPr wrap="square">
            <a:spAutoFit/>
          </a:bodyPr>
          <a:lstStyle/>
          <a:p>
            <a:pPr algn="ctr">
              <a:lnSpc>
                <a:spcPct val="107000"/>
              </a:lnSpc>
              <a:spcAft>
                <a:spcPts val="800"/>
              </a:spcAft>
            </a:pPr>
            <a:r>
              <a:rPr lang="en-US"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TARGETED AUDIENCE </a:t>
            </a:r>
            <a:endParaRPr lang="en-IN" sz="4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A8063D23-FA41-420C-BB73-80E1C05F9AE3}"/>
              </a:ext>
            </a:extLst>
          </p:cNvPr>
          <p:cNvPicPr>
            <a:picLocks noChangeAspect="1"/>
          </p:cNvPicPr>
          <p:nvPr/>
        </p:nvPicPr>
        <p:blipFill>
          <a:blip r:embed="rId2"/>
          <a:stretch>
            <a:fillRect/>
          </a:stretch>
        </p:blipFill>
        <p:spPr>
          <a:xfrm>
            <a:off x="8949194" y="2708409"/>
            <a:ext cx="1146399" cy="1213166"/>
          </a:xfrm>
          <a:prstGeom prst="rect">
            <a:avLst/>
          </a:prstGeom>
        </p:spPr>
      </p:pic>
      <p:pic>
        <p:nvPicPr>
          <p:cNvPr id="8" name="Picture 7">
            <a:extLst>
              <a:ext uri="{FF2B5EF4-FFF2-40B4-BE49-F238E27FC236}">
                <a16:creationId xmlns:a16="http://schemas.microsoft.com/office/drawing/2014/main" id="{DC74A373-C007-40A2-91B4-51BD0F1D51E1}"/>
              </a:ext>
            </a:extLst>
          </p:cNvPr>
          <p:cNvPicPr>
            <a:picLocks noChangeAspect="1"/>
          </p:cNvPicPr>
          <p:nvPr/>
        </p:nvPicPr>
        <p:blipFill>
          <a:blip r:embed="rId3"/>
          <a:stretch>
            <a:fillRect/>
          </a:stretch>
        </p:blipFill>
        <p:spPr>
          <a:xfrm>
            <a:off x="10658807" y="2592765"/>
            <a:ext cx="1444454" cy="1444454"/>
          </a:xfrm>
          <a:prstGeom prst="rect">
            <a:avLst/>
          </a:prstGeom>
        </p:spPr>
      </p:pic>
      <p:pic>
        <p:nvPicPr>
          <p:cNvPr id="10" name="Picture 9">
            <a:extLst>
              <a:ext uri="{FF2B5EF4-FFF2-40B4-BE49-F238E27FC236}">
                <a16:creationId xmlns:a16="http://schemas.microsoft.com/office/drawing/2014/main" id="{717F7144-8E96-4D21-A4BF-5F84FF67CD18}"/>
              </a:ext>
            </a:extLst>
          </p:cNvPr>
          <p:cNvPicPr>
            <a:picLocks noChangeAspect="1"/>
          </p:cNvPicPr>
          <p:nvPr/>
        </p:nvPicPr>
        <p:blipFill rotWithShape="1">
          <a:blip r:embed="rId4"/>
          <a:srcRect b="7163"/>
          <a:stretch/>
        </p:blipFill>
        <p:spPr>
          <a:xfrm>
            <a:off x="7020813" y="2756885"/>
            <a:ext cx="1121377" cy="1124329"/>
          </a:xfrm>
          <a:prstGeom prst="rect">
            <a:avLst/>
          </a:prstGeom>
        </p:spPr>
      </p:pic>
      <p:pic>
        <p:nvPicPr>
          <p:cNvPr id="12" name="Picture 11">
            <a:extLst>
              <a:ext uri="{FF2B5EF4-FFF2-40B4-BE49-F238E27FC236}">
                <a16:creationId xmlns:a16="http://schemas.microsoft.com/office/drawing/2014/main" id="{818078BD-A0FE-4449-B12E-EAD2DD57A12D}"/>
              </a:ext>
            </a:extLst>
          </p:cNvPr>
          <p:cNvPicPr>
            <a:picLocks noChangeAspect="1"/>
          </p:cNvPicPr>
          <p:nvPr/>
        </p:nvPicPr>
        <p:blipFill>
          <a:blip r:embed="rId5"/>
          <a:stretch>
            <a:fillRect/>
          </a:stretch>
        </p:blipFill>
        <p:spPr>
          <a:xfrm>
            <a:off x="88739" y="2617194"/>
            <a:ext cx="2404848" cy="1262545"/>
          </a:xfrm>
          <a:prstGeom prst="rect">
            <a:avLst/>
          </a:prstGeom>
        </p:spPr>
      </p:pic>
      <p:pic>
        <p:nvPicPr>
          <p:cNvPr id="14" name="Picture 13">
            <a:extLst>
              <a:ext uri="{FF2B5EF4-FFF2-40B4-BE49-F238E27FC236}">
                <a16:creationId xmlns:a16="http://schemas.microsoft.com/office/drawing/2014/main" id="{B87BF01F-CC63-4852-B133-0877661F7268}"/>
              </a:ext>
            </a:extLst>
          </p:cNvPr>
          <p:cNvPicPr>
            <a:picLocks noChangeAspect="1"/>
          </p:cNvPicPr>
          <p:nvPr/>
        </p:nvPicPr>
        <p:blipFill>
          <a:blip r:embed="rId6"/>
          <a:stretch>
            <a:fillRect/>
          </a:stretch>
        </p:blipFill>
        <p:spPr>
          <a:xfrm>
            <a:off x="2928434" y="2758361"/>
            <a:ext cx="1121378" cy="1121378"/>
          </a:xfrm>
          <a:prstGeom prst="rect">
            <a:avLst/>
          </a:prstGeom>
        </p:spPr>
      </p:pic>
      <p:pic>
        <p:nvPicPr>
          <p:cNvPr id="16" name="Picture 15">
            <a:extLst>
              <a:ext uri="{FF2B5EF4-FFF2-40B4-BE49-F238E27FC236}">
                <a16:creationId xmlns:a16="http://schemas.microsoft.com/office/drawing/2014/main" id="{7BD98CCB-8572-46F0-A791-7994AA30F953}"/>
              </a:ext>
            </a:extLst>
          </p:cNvPr>
          <p:cNvPicPr>
            <a:picLocks noChangeAspect="1"/>
          </p:cNvPicPr>
          <p:nvPr/>
        </p:nvPicPr>
        <p:blipFill rotWithShape="1">
          <a:blip r:embed="rId7"/>
          <a:srcRect b="6994"/>
          <a:stretch/>
        </p:blipFill>
        <p:spPr>
          <a:xfrm>
            <a:off x="5032844" y="2756885"/>
            <a:ext cx="1048445" cy="1124329"/>
          </a:xfrm>
          <a:prstGeom prst="rect">
            <a:avLst/>
          </a:prstGeom>
        </p:spPr>
      </p:pic>
    </p:spTree>
    <p:extLst>
      <p:ext uri="{BB962C8B-B14F-4D97-AF65-F5344CB8AC3E}">
        <p14:creationId xmlns:p14="http://schemas.microsoft.com/office/powerpoint/2010/main" val="1867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8C2D69-39C0-4542-AB1D-F421F222FB48}"/>
              </a:ext>
            </a:extLst>
          </p:cNvPr>
          <p:cNvSpPr txBox="1"/>
          <p:nvPr/>
        </p:nvSpPr>
        <p:spPr>
          <a:xfrm>
            <a:off x="1846273" y="859723"/>
            <a:ext cx="4155032" cy="769441"/>
          </a:xfrm>
          <a:prstGeom prst="chevron">
            <a:avLst/>
          </a:prstGeom>
          <a:solidFill>
            <a:srgbClr val="2699FA"/>
          </a:solidFill>
        </p:spPr>
        <p:txBody>
          <a:bodyPr wrap="square">
            <a:spAutoFit/>
          </a:bodyPr>
          <a:lstStyle/>
          <a:p>
            <a:pPr algn="ctr"/>
            <a:r>
              <a:rPr lang="en-IN" sz="4400" dirty="0">
                <a:solidFill>
                  <a:schemeClr val="bg1"/>
                </a:solidFill>
              </a:rPr>
              <a:t>FEATURES</a:t>
            </a:r>
          </a:p>
        </p:txBody>
      </p:sp>
      <p:sp>
        <p:nvSpPr>
          <p:cNvPr id="5" name="TextBox 4">
            <a:extLst>
              <a:ext uri="{FF2B5EF4-FFF2-40B4-BE49-F238E27FC236}">
                <a16:creationId xmlns:a16="http://schemas.microsoft.com/office/drawing/2014/main" id="{C76672E1-0CAF-4662-B809-62F3D03A0F0A}"/>
              </a:ext>
            </a:extLst>
          </p:cNvPr>
          <p:cNvSpPr txBox="1"/>
          <p:nvPr/>
        </p:nvSpPr>
        <p:spPr>
          <a:xfrm>
            <a:off x="5592635" y="3285314"/>
            <a:ext cx="6436608" cy="3042821"/>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OUR APPLICATION HAS EXCEPTIONAL FEATURES WHICH WILL BRING TREMENDOUS EFFECTS IN PEOPLE LIFE. IT HAS FEATURES LIKE ARTIFICIAL INTELLIGENCE, MACHINE LEARNING, DEEP LEARNING AND NEURO NETWORK ASSISTING IN THE DEVELOPMENT OF TECHNOLOGY LEARNING BY MAKING IT INTERESTING TOOLS TO OUTPUT. E- HEALTH MAY ENHANCE THE QUALITY OF HEALTH CARE BY ALLOWING COMPARISONS BETWEEN DIFFERENT PROVIDERS, INVOLVING ADDITIONAL POWER TO CONSUMERS FOR QUALITY ASSURANCE AND DIRECTING PATIENTS TO THE BEST QUALITY PROVIDERS.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C308752B-D70D-4881-A784-1AF0AC251467}"/>
              </a:ext>
            </a:extLst>
          </p:cNvPr>
          <p:cNvPicPr>
            <a:picLocks noChangeAspect="1"/>
          </p:cNvPicPr>
          <p:nvPr/>
        </p:nvPicPr>
        <p:blipFill>
          <a:blip r:embed="rId2"/>
          <a:stretch>
            <a:fillRect/>
          </a:stretch>
        </p:blipFill>
        <p:spPr>
          <a:xfrm>
            <a:off x="378601" y="3429000"/>
            <a:ext cx="4433447" cy="2855099"/>
          </a:xfrm>
          <a:prstGeom prst="rect">
            <a:avLst/>
          </a:prstGeom>
        </p:spPr>
      </p:pic>
      <p:pic>
        <p:nvPicPr>
          <p:cNvPr id="11" name="Picture 10">
            <a:extLst>
              <a:ext uri="{FF2B5EF4-FFF2-40B4-BE49-F238E27FC236}">
                <a16:creationId xmlns:a16="http://schemas.microsoft.com/office/drawing/2014/main" id="{52F1DAFD-54CF-4D20-8FBB-A2620D2CD0AF}"/>
              </a:ext>
            </a:extLst>
          </p:cNvPr>
          <p:cNvPicPr>
            <a:picLocks noChangeAspect="1"/>
          </p:cNvPicPr>
          <p:nvPr/>
        </p:nvPicPr>
        <p:blipFill>
          <a:blip r:embed="rId3"/>
          <a:stretch>
            <a:fillRect/>
          </a:stretch>
        </p:blipFill>
        <p:spPr>
          <a:xfrm>
            <a:off x="7191521" y="87314"/>
            <a:ext cx="4433448" cy="2855100"/>
          </a:xfrm>
          <a:prstGeom prst="rect">
            <a:avLst/>
          </a:prstGeom>
        </p:spPr>
      </p:pic>
    </p:spTree>
    <p:extLst>
      <p:ext uri="{BB962C8B-B14F-4D97-AF65-F5344CB8AC3E}">
        <p14:creationId xmlns:p14="http://schemas.microsoft.com/office/powerpoint/2010/main" val="201447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10D9DE-8F0C-4051-9F70-88A60B443EBC}"/>
              </a:ext>
            </a:extLst>
          </p:cNvPr>
          <p:cNvSpPr txBox="1"/>
          <p:nvPr/>
        </p:nvSpPr>
        <p:spPr>
          <a:xfrm>
            <a:off x="557835" y="696806"/>
            <a:ext cx="6428891" cy="769441"/>
          </a:xfrm>
          <a:prstGeom prst="chevron">
            <a:avLst/>
          </a:prstGeom>
          <a:solidFill>
            <a:srgbClr val="2699FA"/>
          </a:solidFill>
        </p:spPr>
        <p:txBody>
          <a:bodyPr wrap="square">
            <a:spAutoFit/>
          </a:bodyPr>
          <a:lstStyle/>
          <a:p>
            <a:pPr algn="ctr"/>
            <a:r>
              <a:rPr lang="en-IN" sz="4400" dirty="0">
                <a:solidFill>
                  <a:schemeClr val="bg1"/>
                </a:solidFill>
              </a:rPr>
              <a:t>CONTENT MARKETING</a:t>
            </a:r>
          </a:p>
        </p:txBody>
      </p:sp>
      <p:sp>
        <p:nvSpPr>
          <p:cNvPr id="5" name="TextBox 4">
            <a:extLst>
              <a:ext uri="{FF2B5EF4-FFF2-40B4-BE49-F238E27FC236}">
                <a16:creationId xmlns:a16="http://schemas.microsoft.com/office/drawing/2014/main" id="{D955E60A-B5BA-4D36-9E5B-0F90B0B0E6A6}"/>
              </a:ext>
            </a:extLst>
          </p:cNvPr>
          <p:cNvSpPr txBox="1"/>
          <p:nvPr/>
        </p:nvSpPr>
        <p:spPr>
          <a:xfrm>
            <a:off x="420414" y="2950836"/>
            <a:ext cx="6093372" cy="156100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USER OF THIS APPLICATIONS CAN MAKE THE KNOWLEDGE BASES OF MEDICINES AND PERSONAL ELECTRONIC RECORDS ACCESSIBLE OVER THE INTERNET, E- HEALTH OPENS NEW AVENUES FOR PATIENT CENTERED MEDICINE AND ENABLES PATIENT-BASED MEDICINE CHOICE.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9D3E29D-9E6F-428D-B599-045F3C533F76}"/>
              </a:ext>
            </a:extLst>
          </p:cNvPr>
          <p:cNvPicPr>
            <a:picLocks noChangeAspect="1"/>
          </p:cNvPicPr>
          <p:nvPr/>
        </p:nvPicPr>
        <p:blipFill>
          <a:blip r:embed="rId2"/>
          <a:stretch>
            <a:fillRect/>
          </a:stretch>
        </p:blipFill>
        <p:spPr>
          <a:xfrm>
            <a:off x="7883622" y="2354005"/>
            <a:ext cx="3656269" cy="3656269"/>
          </a:xfrm>
          <a:prstGeom prst="rect">
            <a:avLst/>
          </a:prstGeom>
        </p:spPr>
      </p:pic>
    </p:spTree>
    <p:extLst>
      <p:ext uri="{BB962C8B-B14F-4D97-AF65-F5344CB8AC3E}">
        <p14:creationId xmlns:p14="http://schemas.microsoft.com/office/powerpoint/2010/main" val="18214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743E2F-BE33-4806-B0EC-9D29095AF381}"/>
              </a:ext>
            </a:extLst>
          </p:cNvPr>
          <p:cNvSpPr txBox="1"/>
          <p:nvPr/>
        </p:nvSpPr>
        <p:spPr>
          <a:xfrm>
            <a:off x="2488924" y="800526"/>
            <a:ext cx="2811046" cy="769441"/>
          </a:xfrm>
          <a:prstGeom prst="chevron">
            <a:avLst/>
          </a:prstGeom>
          <a:solidFill>
            <a:srgbClr val="2699FA"/>
          </a:solidFill>
        </p:spPr>
        <p:txBody>
          <a:bodyPr wrap="square">
            <a:spAutoFit/>
          </a:bodyPr>
          <a:lstStyle/>
          <a:p>
            <a:pPr algn="ctr"/>
            <a:r>
              <a:rPr lang="en-US" sz="4400" dirty="0">
                <a:solidFill>
                  <a:schemeClr val="bg1"/>
                </a:solidFill>
              </a:rPr>
              <a:t>FONT</a:t>
            </a:r>
            <a:endParaRPr lang="en-IN" sz="4400" dirty="0">
              <a:solidFill>
                <a:schemeClr val="bg1"/>
              </a:solidFill>
            </a:endParaRPr>
          </a:p>
        </p:txBody>
      </p:sp>
      <p:sp>
        <p:nvSpPr>
          <p:cNvPr id="5" name="TextBox 4">
            <a:extLst>
              <a:ext uri="{FF2B5EF4-FFF2-40B4-BE49-F238E27FC236}">
                <a16:creationId xmlns:a16="http://schemas.microsoft.com/office/drawing/2014/main" id="{5D7FF4BF-452A-4CC3-B4B5-29182BF9EC0D}"/>
              </a:ext>
            </a:extLst>
          </p:cNvPr>
          <p:cNvSpPr txBox="1"/>
          <p:nvPr/>
        </p:nvSpPr>
        <p:spPr>
          <a:xfrm>
            <a:off x="4312073" y="2505973"/>
            <a:ext cx="6093372" cy="2229008"/>
          </a:xfrm>
          <a:prstGeom prst="rect">
            <a:avLst/>
          </a:prstGeom>
          <a:noFill/>
        </p:spPr>
        <p:txBody>
          <a:bodyPr wrap="square">
            <a:spAutoFit/>
          </a:bodyPr>
          <a:lstStyle/>
          <a:p>
            <a:pPr>
              <a:lnSpc>
                <a:spcPct val="150000"/>
              </a:lnSpc>
            </a:pPr>
            <a:r>
              <a:rPr lang="en-IN" sz="3200" dirty="0"/>
              <a:t>LORA</a:t>
            </a:r>
          </a:p>
          <a:p>
            <a:pPr>
              <a:lnSpc>
                <a:spcPct val="150000"/>
              </a:lnSpc>
            </a:pPr>
            <a:r>
              <a:rPr lang="en-IN" sz="3200" dirty="0"/>
              <a:t>OXYGEN MONO</a:t>
            </a:r>
          </a:p>
          <a:p>
            <a:pPr>
              <a:lnSpc>
                <a:spcPct val="150000"/>
              </a:lnSpc>
            </a:pPr>
            <a:r>
              <a:rPr lang="en-IN" sz="3200" dirty="0"/>
              <a:t>WORK SANS</a:t>
            </a:r>
          </a:p>
        </p:txBody>
      </p:sp>
    </p:spTree>
    <p:extLst>
      <p:ext uri="{BB962C8B-B14F-4D97-AF65-F5344CB8AC3E}">
        <p14:creationId xmlns:p14="http://schemas.microsoft.com/office/powerpoint/2010/main" val="292819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7AC60-7423-4D4C-99F7-24ADE99ABA54}"/>
              </a:ext>
            </a:extLst>
          </p:cNvPr>
          <p:cNvSpPr txBox="1"/>
          <p:nvPr/>
        </p:nvSpPr>
        <p:spPr>
          <a:xfrm>
            <a:off x="3438298" y="780551"/>
            <a:ext cx="5042516" cy="769441"/>
          </a:xfrm>
          <a:prstGeom prst="chevron">
            <a:avLst/>
          </a:prstGeom>
          <a:solidFill>
            <a:srgbClr val="2699FA"/>
          </a:solidFill>
        </p:spPr>
        <p:txBody>
          <a:bodyPr wrap="square">
            <a:spAutoFit/>
          </a:bodyPr>
          <a:lstStyle/>
          <a:p>
            <a:pPr algn="ctr"/>
            <a:r>
              <a:rPr lang="en-US" sz="4400" dirty="0">
                <a:solidFill>
                  <a:schemeClr val="bg1"/>
                </a:solidFill>
              </a:rPr>
              <a:t>COLOR PALETTE</a:t>
            </a:r>
            <a:endParaRPr lang="en-IN" sz="4400" dirty="0">
              <a:solidFill>
                <a:schemeClr val="bg1"/>
              </a:solidFill>
            </a:endParaRPr>
          </a:p>
        </p:txBody>
      </p:sp>
      <p:sp>
        <p:nvSpPr>
          <p:cNvPr id="6" name="Cloud 5">
            <a:extLst>
              <a:ext uri="{FF2B5EF4-FFF2-40B4-BE49-F238E27FC236}">
                <a16:creationId xmlns:a16="http://schemas.microsoft.com/office/drawing/2014/main" id="{27AFC51C-CDDC-4FAE-A283-B74CFE190871}"/>
              </a:ext>
            </a:extLst>
          </p:cNvPr>
          <p:cNvSpPr/>
          <p:nvPr/>
        </p:nvSpPr>
        <p:spPr>
          <a:xfrm>
            <a:off x="4319828" y="2388094"/>
            <a:ext cx="3101905" cy="2476869"/>
          </a:xfrm>
          <a:prstGeom prst="cloud">
            <a:avLst/>
          </a:prstGeom>
          <a:solidFill>
            <a:srgbClr val="2699F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2699fa</a:t>
            </a:r>
            <a:endParaRPr lang="en-IN" dirty="0">
              <a:solidFill>
                <a:sysClr val="windowText" lastClr="000000"/>
              </a:solidFill>
            </a:endParaRPr>
          </a:p>
        </p:txBody>
      </p:sp>
    </p:spTree>
    <p:extLst>
      <p:ext uri="{BB962C8B-B14F-4D97-AF65-F5344CB8AC3E}">
        <p14:creationId xmlns:p14="http://schemas.microsoft.com/office/powerpoint/2010/main" val="4127717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FA3B-8A47-4E93-83B7-42D1EC511DD1}"/>
              </a:ext>
            </a:extLst>
          </p:cNvPr>
          <p:cNvSpPr>
            <a:spLocks noGrp="1"/>
          </p:cNvSpPr>
          <p:nvPr>
            <p:ph type="title"/>
          </p:nvPr>
        </p:nvSpPr>
        <p:spPr>
          <a:xfrm>
            <a:off x="1731860" y="466697"/>
            <a:ext cx="2724730" cy="865750"/>
          </a:xfrm>
          <a:prstGeom prst="chevron">
            <a:avLst/>
          </a:prstGeom>
          <a:solidFill>
            <a:srgbClr val="2699FA"/>
          </a:solidFill>
        </p:spPr>
        <p:txBody>
          <a:bodyPr/>
          <a:lstStyle/>
          <a:p>
            <a:pPr algn="ctr" defTabSz="457200"/>
            <a:r>
              <a:rPr lang="en-US" sz="4400" dirty="0">
                <a:solidFill>
                  <a:schemeClr val="bg1"/>
                </a:solidFill>
                <a:latin typeface="+mn-lt"/>
                <a:ea typeface="+mn-ea"/>
                <a:cs typeface="+mn-cs"/>
              </a:rPr>
              <a:t>LOGO</a:t>
            </a:r>
            <a:endParaRPr lang="en-IN" sz="4400" dirty="0">
              <a:solidFill>
                <a:schemeClr val="bg1"/>
              </a:solidFill>
              <a:latin typeface="+mn-lt"/>
              <a:ea typeface="+mn-ea"/>
              <a:cs typeface="+mn-cs"/>
            </a:endParaRPr>
          </a:p>
        </p:txBody>
      </p:sp>
      <p:pic>
        <p:nvPicPr>
          <p:cNvPr id="4" name="Picture 3">
            <a:extLst>
              <a:ext uri="{FF2B5EF4-FFF2-40B4-BE49-F238E27FC236}">
                <a16:creationId xmlns:a16="http://schemas.microsoft.com/office/drawing/2014/main" id="{93DFBAF7-6D1D-48D4-B171-F30BC84266D5}"/>
              </a:ext>
            </a:extLst>
          </p:cNvPr>
          <p:cNvPicPr>
            <a:picLocks noChangeAspect="1"/>
          </p:cNvPicPr>
          <p:nvPr/>
        </p:nvPicPr>
        <p:blipFill>
          <a:blip r:embed="rId2"/>
          <a:stretch>
            <a:fillRect/>
          </a:stretch>
        </p:blipFill>
        <p:spPr>
          <a:xfrm>
            <a:off x="3901126" y="1818454"/>
            <a:ext cx="3871273" cy="2857500"/>
          </a:xfrm>
          <a:prstGeom prst="rect">
            <a:avLst/>
          </a:prstGeom>
        </p:spPr>
      </p:pic>
      <p:pic>
        <p:nvPicPr>
          <p:cNvPr id="7" name="Picture 6">
            <a:extLst>
              <a:ext uri="{FF2B5EF4-FFF2-40B4-BE49-F238E27FC236}">
                <a16:creationId xmlns:a16="http://schemas.microsoft.com/office/drawing/2014/main" id="{F09C4B97-7DA4-468B-88EA-0E938592EA32}"/>
              </a:ext>
            </a:extLst>
          </p:cNvPr>
          <p:cNvPicPr>
            <a:picLocks noChangeAspect="1"/>
          </p:cNvPicPr>
          <p:nvPr/>
        </p:nvPicPr>
        <p:blipFill rotWithShape="1">
          <a:blip r:embed="rId2"/>
          <a:srcRect b="7359"/>
          <a:stretch/>
        </p:blipFill>
        <p:spPr>
          <a:xfrm>
            <a:off x="8055931" y="2172853"/>
            <a:ext cx="4029389" cy="2503101"/>
          </a:xfrm>
          <a:prstGeom prst="rect">
            <a:avLst/>
          </a:prstGeom>
        </p:spPr>
      </p:pic>
      <p:pic>
        <p:nvPicPr>
          <p:cNvPr id="9" name="Picture 8">
            <a:extLst>
              <a:ext uri="{FF2B5EF4-FFF2-40B4-BE49-F238E27FC236}">
                <a16:creationId xmlns:a16="http://schemas.microsoft.com/office/drawing/2014/main" id="{B596D8A2-06D5-49B2-9CEE-4FE99DBAD5C7}"/>
              </a:ext>
            </a:extLst>
          </p:cNvPr>
          <p:cNvPicPr>
            <a:picLocks noChangeAspect="1"/>
          </p:cNvPicPr>
          <p:nvPr/>
        </p:nvPicPr>
        <p:blipFill rotWithShape="1">
          <a:blip r:embed="rId2"/>
          <a:srcRect b="7359"/>
          <a:stretch/>
        </p:blipFill>
        <p:spPr>
          <a:xfrm>
            <a:off x="646410" y="2280118"/>
            <a:ext cx="2491740" cy="1768417"/>
          </a:xfrm>
          <a:prstGeom prst="rect">
            <a:avLst/>
          </a:prstGeom>
        </p:spPr>
      </p:pic>
      <p:sp>
        <p:nvSpPr>
          <p:cNvPr id="10" name="TextBox 9">
            <a:extLst>
              <a:ext uri="{FF2B5EF4-FFF2-40B4-BE49-F238E27FC236}">
                <a16:creationId xmlns:a16="http://schemas.microsoft.com/office/drawing/2014/main" id="{BA97874C-86A9-4477-8CCA-3879F8EC84A0}"/>
              </a:ext>
            </a:extLst>
          </p:cNvPr>
          <p:cNvSpPr txBox="1"/>
          <p:nvPr/>
        </p:nvSpPr>
        <p:spPr>
          <a:xfrm>
            <a:off x="8159991" y="4987075"/>
            <a:ext cx="3821267" cy="1027141"/>
          </a:xfrm>
          <a:prstGeom prst="rect">
            <a:avLst/>
          </a:prstGeom>
          <a:noFill/>
        </p:spPr>
        <p:txBody>
          <a:bodyPr wrap="square" rtlCol="0">
            <a:spAutoFit/>
          </a:bodyPr>
          <a:lstStyle/>
          <a:p>
            <a:pPr>
              <a:lnSpc>
                <a:spcPct val="150000"/>
              </a:lnSpc>
            </a:pPr>
            <a:r>
              <a:rPr lang="en-US" sz="1400" dirty="0"/>
              <a:t>ELECTRONIC HEALTHCARE SHOULDN’T BE WRITTEN ANYWHERE ELSE. IT SHOULD BE IN ITS PROPER PLACE.</a:t>
            </a:r>
            <a:endParaRPr lang="en-IN" sz="1400" dirty="0"/>
          </a:p>
        </p:txBody>
      </p:sp>
      <p:sp>
        <p:nvSpPr>
          <p:cNvPr id="11" name="TextBox 10">
            <a:extLst>
              <a:ext uri="{FF2B5EF4-FFF2-40B4-BE49-F238E27FC236}">
                <a16:creationId xmlns:a16="http://schemas.microsoft.com/office/drawing/2014/main" id="{92EAE9BD-1FB5-4E1F-8863-56D006BEEAE0}"/>
              </a:ext>
            </a:extLst>
          </p:cNvPr>
          <p:cNvSpPr txBox="1"/>
          <p:nvPr/>
        </p:nvSpPr>
        <p:spPr>
          <a:xfrm rot="16200000">
            <a:off x="7014565" y="2784632"/>
            <a:ext cx="2814222" cy="261610"/>
          </a:xfrm>
          <a:prstGeom prst="rect">
            <a:avLst/>
          </a:prstGeom>
          <a:noFill/>
        </p:spPr>
        <p:txBody>
          <a:bodyPr wrap="square" rtlCol="0">
            <a:spAutoFit/>
          </a:bodyPr>
          <a:lstStyle/>
          <a:p>
            <a:r>
              <a:rPr lang="en-US" sz="1100" dirty="0">
                <a:solidFill>
                  <a:schemeClr val="bg1"/>
                </a:solidFill>
              </a:rPr>
              <a:t>ELECTRONIC HEALTHCARE</a:t>
            </a:r>
            <a:endParaRPr lang="en-IN" sz="1100" dirty="0">
              <a:solidFill>
                <a:schemeClr val="bg1"/>
              </a:solidFill>
            </a:endParaRPr>
          </a:p>
        </p:txBody>
      </p:sp>
      <p:sp>
        <p:nvSpPr>
          <p:cNvPr id="12" name="TextBox 11">
            <a:extLst>
              <a:ext uri="{FF2B5EF4-FFF2-40B4-BE49-F238E27FC236}">
                <a16:creationId xmlns:a16="http://schemas.microsoft.com/office/drawing/2014/main" id="{20C972FA-60D6-4DF8-A83D-3CDFDD88A370}"/>
              </a:ext>
            </a:extLst>
          </p:cNvPr>
          <p:cNvSpPr txBox="1"/>
          <p:nvPr/>
        </p:nvSpPr>
        <p:spPr>
          <a:xfrm rot="5400000">
            <a:off x="10547404" y="3917730"/>
            <a:ext cx="2814222" cy="261610"/>
          </a:xfrm>
          <a:prstGeom prst="rect">
            <a:avLst/>
          </a:prstGeom>
          <a:noFill/>
        </p:spPr>
        <p:txBody>
          <a:bodyPr wrap="square" rtlCol="0">
            <a:spAutoFit/>
          </a:bodyPr>
          <a:lstStyle/>
          <a:p>
            <a:r>
              <a:rPr lang="en-US" sz="1100" dirty="0">
                <a:solidFill>
                  <a:schemeClr val="bg1"/>
                </a:solidFill>
              </a:rPr>
              <a:t>ELECTRONIC HEALTHCARE</a:t>
            </a:r>
            <a:endParaRPr lang="en-IN" sz="1100" dirty="0">
              <a:solidFill>
                <a:schemeClr val="bg1"/>
              </a:solidFill>
            </a:endParaRPr>
          </a:p>
        </p:txBody>
      </p:sp>
      <p:sp>
        <p:nvSpPr>
          <p:cNvPr id="13" name="TextBox 12">
            <a:extLst>
              <a:ext uri="{FF2B5EF4-FFF2-40B4-BE49-F238E27FC236}">
                <a16:creationId xmlns:a16="http://schemas.microsoft.com/office/drawing/2014/main" id="{09633EEE-1E52-4917-8F05-BA497E8377E2}"/>
              </a:ext>
            </a:extLst>
          </p:cNvPr>
          <p:cNvSpPr txBox="1"/>
          <p:nvPr/>
        </p:nvSpPr>
        <p:spPr>
          <a:xfrm>
            <a:off x="8745746" y="2172853"/>
            <a:ext cx="2814222" cy="261610"/>
          </a:xfrm>
          <a:prstGeom prst="rect">
            <a:avLst/>
          </a:prstGeom>
          <a:noFill/>
        </p:spPr>
        <p:txBody>
          <a:bodyPr wrap="square" rtlCol="0">
            <a:spAutoFit/>
          </a:bodyPr>
          <a:lstStyle/>
          <a:p>
            <a:pPr algn="ctr"/>
            <a:r>
              <a:rPr lang="en-US" sz="1100" dirty="0">
                <a:solidFill>
                  <a:schemeClr val="bg1"/>
                </a:solidFill>
              </a:rPr>
              <a:t>ELECTRONIC HEALTHCARE</a:t>
            </a:r>
            <a:endParaRPr lang="en-IN" sz="1100" dirty="0">
              <a:solidFill>
                <a:schemeClr val="bg1"/>
              </a:solidFill>
            </a:endParaRPr>
          </a:p>
        </p:txBody>
      </p:sp>
      <p:sp>
        <p:nvSpPr>
          <p:cNvPr id="14" name="TextBox 13">
            <a:extLst>
              <a:ext uri="{FF2B5EF4-FFF2-40B4-BE49-F238E27FC236}">
                <a16:creationId xmlns:a16="http://schemas.microsoft.com/office/drawing/2014/main" id="{70DD8075-EDE1-43B5-A6FD-66974DDD90F7}"/>
              </a:ext>
            </a:extLst>
          </p:cNvPr>
          <p:cNvSpPr txBox="1"/>
          <p:nvPr/>
        </p:nvSpPr>
        <p:spPr>
          <a:xfrm>
            <a:off x="516498" y="4214289"/>
            <a:ext cx="3003140" cy="1027141"/>
          </a:xfrm>
          <a:prstGeom prst="rect">
            <a:avLst/>
          </a:prstGeom>
          <a:noFill/>
        </p:spPr>
        <p:txBody>
          <a:bodyPr wrap="square" rtlCol="0">
            <a:spAutoFit/>
          </a:bodyPr>
          <a:lstStyle/>
          <a:p>
            <a:pPr>
              <a:lnSpc>
                <a:spcPct val="150000"/>
              </a:lnSpc>
            </a:pPr>
            <a:r>
              <a:rPr lang="en-US" sz="1400" dirty="0"/>
              <a:t>EHC LOGO SHOULDN’T BE WITHOUT ITS FULL FORM “ELECTRONIC HEALTHCARE”</a:t>
            </a:r>
            <a:endParaRPr lang="en-IN" sz="1400" dirty="0"/>
          </a:p>
        </p:txBody>
      </p:sp>
      <p:cxnSp>
        <p:nvCxnSpPr>
          <p:cNvPr id="16" name="Straight Connector 15">
            <a:extLst>
              <a:ext uri="{FF2B5EF4-FFF2-40B4-BE49-F238E27FC236}">
                <a16:creationId xmlns:a16="http://schemas.microsoft.com/office/drawing/2014/main" id="{E8420DEE-DECA-482C-8153-2018F2734E55}"/>
              </a:ext>
            </a:extLst>
          </p:cNvPr>
          <p:cNvCxnSpPr/>
          <p:nvPr/>
        </p:nvCxnSpPr>
        <p:spPr>
          <a:xfrm>
            <a:off x="516498" y="1818454"/>
            <a:ext cx="3003140" cy="2504094"/>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18" name="Straight Connector 17">
            <a:extLst>
              <a:ext uri="{FF2B5EF4-FFF2-40B4-BE49-F238E27FC236}">
                <a16:creationId xmlns:a16="http://schemas.microsoft.com/office/drawing/2014/main" id="{3907C2E1-4D46-4EA2-AB43-60B864D05B5F}"/>
              </a:ext>
            </a:extLst>
          </p:cNvPr>
          <p:cNvCxnSpPr/>
          <p:nvPr/>
        </p:nvCxnSpPr>
        <p:spPr>
          <a:xfrm flipH="1">
            <a:off x="368287" y="1616570"/>
            <a:ext cx="3007487" cy="2705978"/>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0" name="Straight Connector 19">
            <a:extLst>
              <a:ext uri="{FF2B5EF4-FFF2-40B4-BE49-F238E27FC236}">
                <a16:creationId xmlns:a16="http://schemas.microsoft.com/office/drawing/2014/main" id="{84AE9A30-19AC-4E98-A71F-77AC3C81B5FE}"/>
              </a:ext>
            </a:extLst>
          </p:cNvPr>
          <p:cNvCxnSpPr>
            <a:cxnSpLocks/>
          </p:cNvCxnSpPr>
          <p:nvPr/>
        </p:nvCxnSpPr>
        <p:spPr>
          <a:xfrm>
            <a:off x="8552556" y="1780027"/>
            <a:ext cx="3208769" cy="3116150"/>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2" name="Straight Connector 21">
            <a:extLst>
              <a:ext uri="{FF2B5EF4-FFF2-40B4-BE49-F238E27FC236}">
                <a16:creationId xmlns:a16="http://schemas.microsoft.com/office/drawing/2014/main" id="{DB77F354-9447-48B8-9D0C-B6DBACB95EA5}"/>
              </a:ext>
            </a:extLst>
          </p:cNvPr>
          <p:cNvCxnSpPr>
            <a:cxnSpLocks/>
          </p:cNvCxnSpPr>
          <p:nvPr/>
        </p:nvCxnSpPr>
        <p:spPr>
          <a:xfrm flipH="1">
            <a:off x="8701653" y="1818454"/>
            <a:ext cx="3221670" cy="3116150"/>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4" name="Straight Connector 23">
            <a:extLst>
              <a:ext uri="{FF2B5EF4-FFF2-40B4-BE49-F238E27FC236}">
                <a16:creationId xmlns:a16="http://schemas.microsoft.com/office/drawing/2014/main" id="{36BA7313-D8C9-4FB8-B2A8-DF621521D026}"/>
              </a:ext>
            </a:extLst>
          </p:cNvPr>
          <p:cNvCxnSpPr/>
          <p:nvPr/>
        </p:nvCxnSpPr>
        <p:spPr>
          <a:xfrm>
            <a:off x="3656622" y="3581400"/>
            <a:ext cx="1914023" cy="1405675"/>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9E065EC-A960-4CE4-A41A-E43BAED6A4F7}"/>
              </a:ext>
            </a:extLst>
          </p:cNvPr>
          <p:cNvCxnSpPr/>
          <p:nvPr/>
        </p:nvCxnSpPr>
        <p:spPr>
          <a:xfrm flipV="1">
            <a:off x="5567365" y="1346449"/>
            <a:ext cx="2530241" cy="364062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27720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TM02900688[[fn=Facet]]</Template>
  <TotalTime>548</TotalTime>
  <Words>526</Words>
  <Application>Microsoft Office PowerPoint</Application>
  <PresentationFormat>Widescreen</PresentationFormat>
  <Paragraphs>38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Helvetica Neue</vt:lpstr>
      <vt:lpstr>Lora script=latin rev=2</vt:lpstr>
      <vt:lpstr>Trebuchet MS</vt:lpstr>
      <vt:lpstr>Wingdings 3</vt:lpstr>
      <vt:lpstr>Facet</vt:lpstr>
      <vt:lpstr>PowerPoint Presentation</vt:lpstr>
      <vt:lpstr>EHC IS AN APPLICATION SOFTWARE WHICH IS PROVIDING HEALTHCARE FACILITIES THROUGH DIGITAL MEDIA PLATFORM. IT WILL KEEP AN EYE ON THE PATIENT’S CONDITIONS AND PROGRESS THROUGHOUT THE DURATION OF THE TREATMENT. THESE SERVICES WILL STORE THE PATIENT’S MEDICAL TEST REPORTS, WHICH DOCTORS CAN ACCESS ANYTIME THEY WANT.</vt:lpstr>
      <vt:lpstr>PowerPoint Presentation</vt:lpstr>
      <vt:lpstr>PowerPoint Presentation</vt:lpstr>
      <vt:lpstr>PowerPoint Presentation</vt:lpstr>
      <vt:lpstr>AI</vt:lpstr>
      <vt:lpstr>PowerPoint Presentation</vt:lpstr>
      <vt:lpstr>PowerPoint Presentation</vt:lpstr>
      <vt:lpstr>PowerPoint Presentation</vt:lpstr>
      <vt:lpstr>PowerPoint Presentation</vt:lpstr>
      <vt:lpstr>PowerPoint Presentation</vt:lpstr>
      <vt:lpstr>LOGO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NIKITA DÇOSTA</dc:creator>
  <cp:lastModifiedBy>NIKITA DÇOSTA</cp:lastModifiedBy>
  <cp:revision>35</cp:revision>
  <dcterms:created xsi:type="dcterms:W3CDTF">2021-08-09T10:19:12Z</dcterms:created>
  <dcterms:modified xsi:type="dcterms:W3CDTF">2021-08-14T08:18:56Z</dcterms:modified>
</cp:coreProperties>
</file>